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94" r:id="rId2"/>
    <p:sldId id="259" r:id="rId3"/>
    <p:sldId id="297" r:id="rId4"/>
    <p:sldId id="295" r:id="rId5"/>
    <p:sldId id="29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CE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6106" autoAdjust="0"/>
  </p:normalViewPr>
  <p:slideViewPr>
    <p:cSldViewPr snapToGrid="0" showGuides="1">
      <p:cViewPr varScale="1">
        <p:scale>
          <a:sx n="70" d="100"/>
          <a:sy n="70" d="100"/>
        </p:scale>
        <p:origin x="45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unaq Kumar" userId="b2873ba8-9a10-43bc-aaa0-b189f7af7644" providerId="ADAL" clId="{D1159EF7-23A9-4AA4-8282-0D97B6CBB306}"/>
    <pc:docChg chg="custSel modSld">
      <pc:chgData name="Raunaq Kumar" userId="b2873ba8-9a10-43bc-aaa0-b189f7af7644" providerId="ADAL" clId="{D1159EF7-23A9-4AA4-8282-0D97B6CBB306}" dt="2026-09-04T01:34:18.935" v="1" actId="478"/>
      <pc:docMkLst>
        <pc:docMk/>
      </pc:docMkLst>
      <pc:sldChg chg="delSp mod">
        <pc:chgData name="Raunaq Kumar" userId="b2873ba8-9a10-43bc-aaa0-b189f7af7644" providerId="ADAL" clId="{D1159EF7-23A9-4AA4-8282-0D97B6CBB306}" dt="2026-09-04T01:34:18.935" v="1" actId="478"/>
        <pc:sldMkLst>
          <pc:docMk/>
          <pc:sldMk cId="850889976" sldId="259"/>
        </pc:sldMkLst>
        <pc:spChg chg="del">
          <ac:chgData name="Raunaq Kumar" userId="b2873ba8-9a10-43bc-aaa0-b189f7af7644" providerId="ADAL" clId="{D1159EF7-23A9-4AA4-8282-0D97B6CBB306}" dt="2026-09-04T01:34:18.935" v="1" actId="478"/>
          <ac:spMkLst>
            <pc:docMk/>
            <pc:sldMk cId="850889976" sldId="259"/>
            <ac:spMk id="79" creationId="{F23EDA5C-9CC3-1C52-41D0-97C1D8ACCAF9}"/>
          </ac:spMkLst>
        </pc:spChg>
        <pc:spChg chg="del">
          <ac:chgData name="Raunaq Kumar" userId="b2873ba8-9a10-43bc-aaa0-b189f7af7644" providerId="ADAL" clId="{D1159EF7-23A9-4AA4-8282-0D97B6CBB306}" dt="2026-09-04T01:34:18.935" v="1" actId="478"/>
          <ac:spMkLst>
            <pc:docMk/>
            <pc:sldMk cId="850889976" sldId="259"/>
            <ac:spMk id="357" creationId="{DA0D6ACA-9DFE-6A2A-533C-49C8BE00B392}"/>
          </ac:spMkLst>
        </pc:spChg>
        <pc:spChg chg="del">
          <ac:chgData name="Raunaq Kumar" userId="b2873ba8-9a10-43bc-aaa0-b189f7af7644" providerId="ADAL" clId="{D1159EF7-23A9-4AA4-8282-0D97B6CBB306}" dt="2026-09-04T01:34:18.935" v="1" actId="478"/>
          <ac:spMkLst>
            <pc:docMk/>
            <pc:sldMk cId="850889976" sldId="259"/>
            <ac:spMk id="360" creationId="{2265BBA3-B38B-C78E-2D51-CDA3BE4BA9F8}"/>
          </ac:spMkLst>
        </pc:spChg>
        <pc:spChg chg="del">
          <ac:chgData name="Raunaq Kumar" userId="b2873ba8-9a10-43bc-aaa0-b189f7af7644" providerId="ADAL" clId="{D1159EF7-23A9-4AA4-8282-0D97B6CBB306}" dt="2026-09-04T01:34:18.935" v="1" actId="478"/>
          <ac:spMkLst>
            <pc:docMk/>
            <pc:sldMk cId="850889976" sldId="259"/>
            <ac:spMk id="361" creationId="{B5C3A905-E71E-C666-3801-94E28EE358E0}"/>
          </ac:spMkLst>
        </pc:spChg>
        <pc:spChg chg="del">
          <ac:chgData name="Raunaq Kumar" userId="b2873ba8-9a10-43bc-aaa0-b189f7af7644" providerId="ADAL" clId="{D1159EF7-23A9-4AA4-8282-0D97B6CBB306}" dt="2026-09-04T01:34:18.935" v="1" actId="478"/>
          <ac:spMkLst>
            <pc:docMk/>
            <pc:sldMk cId="850889976" sldId="259"/>
            <ac:spMk id="362" creationId="{5DBBD9B2-E26D-F4FF-F33D-85DFB90FEA5D}"/>
          </ac:spMkLst>
        </pc:spChg>
        <pc:spChg chg="del">
          <ac:chgData name="Raunaq Kumar" userId="b2873ba8-9a10-43bc-aaa0-b189f7af7644" providerId="ADAL" clId="{D1159EF7-23A9-4AA4-8282-0D97B6CBB306}" dt="2026-09-04T01:34:18.935" v="1" actId="478"/>
          <ac:spMkLst>
            <pc:docMk/>
            <pc:sldMk cId="850889976" sldId="259"/>
            <ac:spMk id="363" creationId="{AFFFE6A9-C8B1-30A3-7F6C-46DB1D31C685}"/>
          </ac:spMkLst>
        </pc:spChg>
        <pc:spChg chg="del">
          <ac:chgData name="Raunaq Kumar" userId="b2873ba8-9a10-43bc-aaa0-b189f7af7644" providerId="ADAL" clId="{D1159EF7-23A9-4AA4-8282-0D97B6CBB306}" dt="2026-09-04T01:34:18.935" v="1" actId="478"/>
          <ac:spMkLst>
            <pc:docMk/>
            <pc:sldMk cId="850889976" sldId="259"/>
            <ac:spMk id="364" creationId="{B0FF4E7D-7C12-5A8E-FA4D-29EAFF25124A}"/>
          </ac:spMkLst>
        </pc:spChg>
        <pc:spChg chg="del">
          <ac:chgData name="Raunaq Kumar" userId="b2873ba8-9a10-43bc-aaa0-b189f7af7644" providerId="ADAL" clId="{D1159EF7-23A9-4AA4-8282-0D97B6CBB306}" dt="2026-09-04T01:34:18.935" v="1" actId="478"/>
          <ac:spMkLst>
            <pc:docMk/>
            <pc:sldMk cId="850889976" sldId="259"/>
            <ac:spMk id="365" creationId="{4DB97902-0ADA-E95B-98B1-E0C8B795DB3A}"/>
          </ac:spMkLst>
        </pc:spChg>
        <pc:spChg chg="del">
          <ac:chgData name="Raunaq Kumar" userId="b2873ba8-9a10-43bc-aaa0-b189f7af7644" providerId="ADAL" clId="{D1159EF7-23A9-4AA4-8282-0D97B6CBB306}" dt="2026-09-04T01:34:18.935" v="1" actId="478"/>
          <ac:spMkLst>
            <pc:docMk/>
            <pc:sldMk cId="850889976" sldId="259"/>
            <ac:spMk id="367" creationId="{A36BCF6E-B2DE-5AC9-0540-4162EF031935}"/>
          </ac:spMkLst>
        </pc:spChg>
        <pc:spChg chg="del">
          <ac:chgData name="Raunaq Kumar" userId="b2873ba8-9a10-43bc-aaa0-b189f7af7644" providerId="ADAL" clId="{D1159EF7-23A9-4AA4-8282-0D97B6CBB306}" dt="2026-09-04T01:34:18.935" v="1" actId="478"/>
          <ac:spMkLst>
            <pc:docMk/>
            <pc:sldMk cId="850889976" sldId="259"/>
            <ac:spMk id="368" creationId="{83DBB670-838E-E2DC-52A8-F6A6C0D273DE}"/>
          </ac:spMkLst>
        </pc:spChg>
      </pc:sldChg>
      <pc:sldChg chg="delSp mod">
        <pc:chgData name="Raunaq Kumar" userId="b2873ba8-9a10-43bc-aaa0-b189f7af7644" providerId="ADAL" clId="{D1159EF7-23A9-4AA4-8282-0D97B6CBB306}" dt="2026-09-04T01:34:13.453" v="0" actId="478"/>
        <pc:sldMkLst>
          <pc:docMk/>
          <pc:sldMk cId="3546233225" sldId="294"/>
        </pc:sldMkLst>
        <pc:spChg chg="del">
          <ac:chgData name="Raunaq Kumar" userId="b2873ba8-9a10-43bc-aaa0-b189f7af7644" providerId="ADAL" clId="{D1159EF7-23A9-4AA4-8282-0D97B6CBB306}" dt="2026-09-04T01:34:13.453" v="0" actId="478"/>
          <ac:spMkLst>
            <pc:docMk/>
            <pc:sldMk cId="3546233225" sldId="294"/>
            <ac:spMk id="79" creationId="{F23EDA5C-9CC3-1C52-41D0-97C1D8ACCAF9}"/>
          </ac:spMkLst>
        </pc:spChg>
        <pc:spChg chg="del">
          <ac:chgData name="Raunaq Kumar" userId="b2873ba8-9a10-43bc-aaa0-b189f7af7644" providerId="ADAL" clId="{D1159EF7-23A9-4AA4-8282-0D97B6CBB306}" dt="2026-09-04T01:34:13.453" v="0" actId="478"/>
          <ac:spMkLst>
            <pc:docMk/>
            <pc:sldMk cId="3546233225" sldId="294"/>
            <ac:spMk id="133" creationId="{F4896F35-05C3-A8AF-BE09-A0C013C4B421}"/>
          </ac:spMkLst>
        </pc:spChg>
        <pc:spChg chg="del">
          <ac:chgData name="Raunaq Kumar" userId="b2873ba8-9a10-43bc-aaa0-b189f7af7644" providerId="ADAL" clId="{D1159EF7-23A9-4AA4-8282-0D97B6CBB306}" dt="2026-09-04T01:34:13.453" v="0" actId="478"/>
          <ac:spMkLst>
            <pc:docMk/>
            <pc:sldMk cId="3546233225" sldId="294"/>
            <ac:spMk id="356" creationId="{43A410E9-34B5-5B69-02B2-AEDFFB313912}"/>
          </ac:spMkLst>
        </pc:spChg>
        <pc:spChg chg="del">
          <ac:chgData name="Raunaq Kumar" userId="b2873ba8-9a10-43bc-aaa0-b189f7af7644" providerId="ADAL" clId="{D1159EF7-23A9-4AA4-8282-0D97B6CBB306}" dt="2026-09-04T01:34:13.453" v="0" actId="478"/>
          <ac:spMkLst>
            <pc:docMk/>
            <pc:sldMk cId="3546233225" sldId="294"/>
            <ac:spMk id="358" creationId="{85913F17-B730-B43B-5CDE-A025E0C31D5C}"/>
          </ac:spMkLst>
        </pc:spChg>
        <pc:spChg chg="del">
          <ac:chgData name="Raunaq Kumar" userId="b2873ba8-9a10-43bc-aaa0-b189f7af7644" providerId="ADAL" clId="{D1159EF7-23A9-4AA4-8282-0D97B6CBB306}" dt="2026-09-04T01:34:13.453" v="0" actId="478"/>
          <ac:spMkLst>
            <pc:docMk/>
            <pc:sldMk cId="3546233225" sldId="294"/>
            <ac:spMk id="359" creationId="{9E7DF865-D406-4B7E-6252-C6CBB837CCAB}"/>
          </ac:spMkLst>
        </pc:spChg>
        <pc:spChg chg="del">
          <ac:chgData name="Raunaq Kumar" userId="b2873ba8-9a10-43bc-aaa0-b189f7af7644" providerId="ADAL" clId="{D1159EF7-23A9-4AA4-8282-0D97B6CBB306}" dt="2026-09-04T01:34:13.453" v="0" actId="478"/>
          <ac:spMkLst>
            <pc:docMk/>
            <pc:sldMk cId="3546233225" sldId="294"/>
            <ac:spMk id="361" creationId="{B5C3A905-E71E-C666-3801-94E28EE358E0}"/>
          </ac:spMkLst>
        </pc:spChg>
        <pc:spChg chg="del">
          <ac:chgData name="Raunaq Kumar" userId="b2873ba8-9a10-43bc-aaa0-b189f7af7644" providerId="ADAL" clId="{D1159EF7-23A9-4AA4-8282-0D97B6CBB306}" dt="2026-09-04T01:34:13.453" v="0" actId="478"/>
          <ac:spMkLst>
            <pc:docMk/>
            <pc:sldMk cId="3546233225" sldId="294"/>
            <ac:spMk id="362" creationId="{5DBBD9B2-E26D-F4FF-F33D-85DFB90FEA5D}"/>
          </ac:spMkLst>
        </pc:spChg>
        <pc:spChg chg="del">
          <ac:chgData name="Raunaq Kumar" userId="b2873ba8-9a10-43bc-aaa0-b189f7af7644" providerId="ADAL" clId="{D1159EF7-23A9-4AA4-8282-0D97B6CBB306}" dt="2026-09-04T01:34:13.453" v="0" actId="478"/>
          <ac:spMkLst>
            <pc:docMk/>
            <pc:sldMk cId="3546233225" sldId="294"/>
            <ac:spMk id="363" creationId="{AFFFE6A9-C8B1-30A3-7F6C-46DB1D31C685}"/>
          </ac:spMkLst>
        </pc:spChg>
        <pc:spChg chg="del">
          <ac:chgData name="Raunaq Kumar" userId="b2873ba8-9a10-43bc-aaa0-b189f7af7644" providerId="ADAL" clId="{D1159EF7-23A9-4AA4-8282-0D97B6CBB306}" dt="2026-09-04T01:34:13.453" v="0" actId="478"/>
          <ac:spMkLst>
            <pc:docMk/>
            <pc:sldMk cId="3546233225" sldId="294"/>
            <ac:spMk id="367" creationId="{A36BCF6E-B2DE-5AC9-0540-4162EF031935}"/>
          </ac:spMkLst>
        </pc:spChg>
        <pc:spChg chg="del">
          <ac:chgData name="Raunaq Kumar" userId="b2873ba8-9a10-43bc-aaa0-b189f7af7644" providerId="ADAL" clId="{D1159EF7-23A9-4AA4-8282-0D97B6CBB306}" dt="2026-09-04T01:34:13.453" v="0" actId="478"/>
          <ac:spMkLst>
            <pc:docMk/>
            <pc:sldMk cId="3546233225" sldId="294"/>
            <ac:spMk id="369" creationId="{0E8B2BE8-F972-1AF6-F297-8AC434263F65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A94168-219B-44D7-AB03-0154737B5435}" type="datetimeFigureOut">
              <a:rPr lang="en-HK" smtClean="0"/>
              <a:t>4/9/2026</a:t>
            </a:fld>
            <a:endParaRPr lang="en-H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H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H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H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2915D-FABC-497B-B5ED-8EDCD1B6D4F7}" type="slidenum">
              <a:rPr lang="en-HK" smtClean="0"/>
              <a:t>‹#›</a:t>
            </a:fld>
            <a:endParaRPr lang="en-HK"/>
          </a:p>
        </p:txBody>
      </p:sp>
    </p:spTree>
    <p:extLst>
      <p:ext uri="{BB962C8B-B14F-4D97-AF65-F5344CB8AC3E}">
        <p14:creationId xmlns:p14="http://schemas.microsoft.com/office/powerpoint/2010/main" val="3686434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24E6E-7ADC-569F-3498-92B83831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4D5C6-FD39-F262-58BA-26070CE05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75FAB-67D2-000B-E740-7DE41EE2A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114F5-AE66-BE38-DD11-717F0E7E3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BF52DC-EC59-4DE1-BAC7-23B3848E6B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79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24E6E-7ADC-569F-3498-92B83831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4D5C6-FD39-F262-58BA-26070CE05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75FAB-67D2-000B-E740-7DE41EE2A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114F5-AE66-BE38-DD11-717F0E7E3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BF52DC-EC59-4DE1-BAC7-23B3848E6B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079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24E6E-7ADC-569F-3498-92B83831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4D5C6-FD39-F262-58BA-26070CE05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75FAB-67D2-000B-E740-7DE41EE2A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114F5-AE66-BE38-DD11-717F0E7E3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BF52DC-EC59-4DE1-BAC7-23B3848E6B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39052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24E6E-7ADC-569F-3498-92B83831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4D5C6-FD39-F262-58BA-26070CE05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75FAB-67D2-000B-E740-7DE41EE2A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114F5-AE66-BE38-DD11-717F0E7E3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BF52DC-EC59-4DE1-BAC7-23B3848E6B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36203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24E6E-7ADC-569F-3498-92B83831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4D5C6-FD39-F262-58BA-26070CE055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H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75FAB-67D2-000B-E740-7DE41EE2A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114F5-AE66-BE38-DD11-717F0E7E3C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ABF52DC-EC59-4DE1-BAC7-23B3848E6B8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1776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73EF25-72E7-9AE3-4422-E1DC154B12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0999" y="882014"/>
            <a:ext cx="11439525" cy="221599"/>
          </a:xfrm>
          <a:noFill/>
          <a:ln/>
        </p:spPr>
        <p:txBody>
          <a:bodyPr wrap="square" lIns="254" tIns="254" rIns="254" bIns="254" rtlCol="0" anchor="t">
            <a:noAutofit/>
          </a:bodyPr>
          <a:lstStyle>
            <a:lvl1pPr marL="0" indent="0">
              <a:buNone/>
              <a:defRPr lang="en-AU" sz="1600" i="1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AU" sz="180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 indent="0">
              <a:buNone/>
            </a:pPr>
            <a:r>
              <a:rPr lang="en-US"/>
              <a:t>Sub-header</a:t>
            </a:r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33375"/>
            <a:ext cx="11430000" cy="533399"/>
          </a:xfrm>
        </p:spPr>
        <p:txBody>
          <a:bodyPr vert="horz" lIns="0" tIns="45720" rIns="0" bIns="45720" rtlCol="0" anchor="t">
            <a:spAutoFit/>
          </a:bodyPr>
          <a:lstStyle>
            <a:lvl1pPr>
              <a:defRPr lang="en-US">
                <a:latin typeface="+mj-lt"/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Heading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1DB599-C6C4-EC4A-1847-36F852A38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2026 NTT DATA, Inc.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796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256B3E7-12E7-311E-581C-DCB42498E22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3827748" cy="6858000"/>
          </a:xfrm>
        </p:spPr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73EF25-72E7-9AE3-4422-E1DC154B12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60648"/>
            <a:ext cx="6095306" cy="110800"/>
          </a:xfrm>
          <a:noFill/>
        </p:spPr>
        <p:txBody>
          <a:bodyPr wrap="square" lIns="0" tIns="0" rIns="0" bIns="0">
            <a:spAutoFit/>
          </a:bodyPr>
          <a:lstStyle>
            <a:lvl1pPr>
              <a:buNone/>
              <a:defRPr lang="en-US" sz="800" smtClean="0">
                <a:solidFill>
                  <a:schemeClr val="bg2"/>
                </a:solidFill>
                <a:latin typeface="+mn-lt"/>
                <a:cs typeface="+mn-cs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AU" sz="180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XX Section</a:t>
            </a:r>
            <a:endParaRPr lang="en-AU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1DB599-C6C4-EC4A-1847-36F852A38F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2026 NTT DATA, Inc.</a:t>
            </a:r>
          </a:p>
        </p:txBody>
      </p:sp>
      <p:sp>
        <p:nvSpPr>
          <p:cNvPr id="3" name="Innovation Cuver Over">
            <a:extLst>
              <a:ext uri="{FF2B5EF4-FFF2-40B4-BE49-F238E27FC236}">
                <a16:creationId xmlns:a16="http://schemas.microsoft.com/office/drawing/2014/main" id="{E1C85259-425A-0FCB-C3E3-8A1790EB89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1000" y="3478875"/>
            <a:ext cx="2723626" cy="2743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noFill/>
              </a:defRPr>
            </a:lvl1pPr>
            <a:lvl2pPr>
              <a:defRPr>
                <a:noFill/>
              </a:defRPr>
            </a:lvl2pPr>
            <a:lvl3pPr>
              <a:defRPr>
                <a:noFill/>
              </a:defRPr>
            </a:lvl3pPr>
            <a:lvl4pPr>
              <a:defRPr>
                <a:noFill/>
              </a:defRPr>
            </a:lvl4pPr>
            <a:lvl5pPr>
              <a:defRPr>
                <a:noFill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653" y="925483"/>
            <a:ext cx="7315200" cy="400110"/>
          </a:xfrm>
        </p:spPr>
        <p:txBody>
          <a:bodyPr vert="horz" wrap="square" lIns="0" tIns="45720" rIns="0" bIns="45720" rtlCol="0" anchor="t">
            <a:spAutoFit/>
          </a:bodyPr>
          <a:lstStyle>
            <a:lvl1pPr>
              <a:defRPr lang="en-US" sz="200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1338546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orient="horz" pos="1071">
          <p15:clr>
            <a:srgbClr val="C35EA4"/>
          </p15:clr>
        </p15:guide>
        <p15:guide id="3" orient="horz" pos="2500">
          <p15:clr>
            <a:srgbClr val="C35EA4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9224E-6D9A-F20A-E95C-3BD86FD1C3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592139"/>
            <a:ext cx="11430000" cy="533399"/>
          </a:xfrm>
        </p:spPr>
        <p:txBody>
          <a:bodyPr vert="horz" lIns="0" tIns="45720" rIns="0" bIns="45720" rtlCol="0" anchor="t">
            <a:spAutoFit/>
          </a:bodyPr>
          <a:lstStyle>
            <a:lvl1pPr>
              <a:defRPr lang="en-US">
                <a:solidFill>
                  <a:schemeClr val="bg2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/>
              <a:t>Heading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1B9585-B814-96B8-821F-CFBD1EE52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373EF25-72E7-9AE3-4422-E1DC154B123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0" y="260648"/>
            <a:ext cx="6095306" cy="110800"/>
          </a:xfrm>
          <a:noFill/>
        </p:spPr>
        <p:txBody>
          <a:bodyPr wrap="square" lIns="0" tIns="0" rIns="0" bIns="0">
            <a:spAutoFit/>
          </a:bodyPr>
          <a:lstStyle>
            <a:lvl1pPr>
              <a:buNone/>
              <a:defRPr lang="en-US" sz="800" smtClean="0">
                <a:solidFill>
                  <a:schemeClr val="bg2"/>
                </a:solidFill>
                <a:latin typeface="+mn-lt"/>
                <a:cs typeface="+mn-cs"/>
              </a:defRPr>
            </a:lvl1pPr>
            <a:lvl2pPr>
              <a:defRPr lang="en-US" sz="1800" smtClean="0">
                <a:solidFill>
                  <a:schemeClr val="tx1"/>
                </a:solidFill>
                <a:latin typeface="+mn-lt"/>
                <a:cs typeface="+mn-cs"/>
              </a:defRPr>
            </a:lvl2pPr>
            <a:lvl3pPr>
              <a:defRPr lang="en-US" sz="1800" smtClean="0">
                <a:solidFill>
                  <a:schemeClr val="tx1"/>
                </a:solidFill>
                <a:latin typeface="+mn-lt"/>
                <a:cs typeface="+mn-cs"/>
              </a:defRPr>
            </a:lvl3pPr>
            <a:lvl4pPr>
              <a:defRPr lang="en-US" sz="1800" smtClean="0">
                <a:solidFill>
                  <a:schemeClr val="tx1"/>
                </a:solidFill>
                <a:latin typeface="+mn-lt"/>
                <a:cs typeface="+mn-cs"/>
              </a:defRPr>
            </a:lvl4pPr>
            <a:lvl5pPr>
              <a:defRPr lang="en-AU" sz="1800">
                <a:solidFill>
                  <a:schemeClr val="tx1"/>
                </a:solidFill>
                <a:latin typeface="+mn-lt"/>
                <a:cs typeface="+mn-cs"/>
              </a:defRPr>
            </a:lvl5pPr>
          </a:lstStyle>
          <a:p>
            <a:pPr marL="0" lvl="0"/>
            <a:r>
              <a:rPr lang="en-US"/>
              <a:t>XX Section</a:t>
            </a:r>
            <a:endParaRPr lang="en-AU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21851E0-6CF5-1379-CBF7-629A264A819F}"/>
              </a:ext>
            </a:extLst>
          </p:cNvPr>
          <p:cNvSpPr/>
          <p:nvPr userDrawn="1"/>
        </p:nvSpPr>
        <p:spPr>
          <a:xfrm>
            <a:off x="0" y="1700213"/>
            <a:ext cx="12192000" cy="4537075"/>
          </a:xfrm>
          <a:prstGeom prst="rect">
            <a:avLst/>
          </a:prstGeom>
          <a:solidFill>
            <a:schemeClr val="bg2">
              <a:lumMod val="20000"/>
              <a:lumOff val="80000"/>
              <a:alpha val="20000"/>
            </a:schemeClr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err="1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A899972-E1A7-AB3A-5228-41AD2B28E6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2026 NTT DATA, Inc.</a:t>
            </a:r>
          </a:p>
        </p:txBody>
      </p:sp>
    </p:spTree>
    <p:extLst>
      <p:ext uri="{BB962C8B-B14F-4D97-AF65-F5344CB8AC3E}">
        <p14:creationId xmlns:p14="http://schemas.microsoft.com/office/powerpoint/2010/main" val="4155136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3">
          <p15:clr>
            <a:srgbClr val="C35EA4"/>
          </p15:clr>
        </p15:guide>
        <p15:guide id="3" orient="horz" pos="2500">
          <p15:clr>
            <a:srgbClr val="C35EA4"/>
          </p15:clr>
        </p15:guide>
        <p15:guide id="4" orient="horz" pos="1071">
          <p15:clr>
            <a:srgbClr val="C35E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C5F86-8F5F-160E-E108-4A97EA9FE1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400800"/>
            <a:ext cx="4114800" cy="304800"/>
          </a:xfrm>
          <a:prstGeom prst="rect">
            <a:avLst/>
          </a:prstGeom>
          <a:ln w="3175">
            <a:noFill/>
          </a:ln>
        </p:spPr>
        <p:txBody>
          <a:bodyPr vert="horz" lIns="0" tIns="0" rIns="0" bIns="0" rtlCol="0" anchor="ctr"/>
          <a:lstStyle>
            <a:lvl1pPr>
              <a:defRPr lang="en-US" sz="800" b="0" i="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noProof="0"/>
              <a:t>© 2026 NTT DATA, Inc.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4DB4C7-535B-ACE9-FD48-E216483B5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60350"/>
            <a:ext cx="11430000" cy="533399"/>
          </a:xfrm>
          <a:prstGeom prst="rect">
            <a:avLst/>
          </a:prstGeom>
        </p:spPr>
        <p:txBody>
          <a:bodyPr vert="horz" lIns="0" tIns="45720" rIns="0" bIns="45720" rtlCol="0" anchor="t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15ACC7-9813-39D4-E0E6-4E62A1947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876800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0"/>
            <a:endParaRPr lang="en-US"/>
          </a:p>
        </p:txBody>
      </p:sp>
      <p:sp>
        <p:nvSpPr>
          <p:cNvPr id="7" name="NTT DATA Global Logo">
            <a:extLst>
              <a:ext uri="{FF2B5EF4-FFF2-40B4-BE49-F238E27FC236}">
                <a16:creationId xmlns:a16="http://schemas.microsoft.com/office/drawing/2014/main" id="{E4A297F2-4804-B5AA-637C-78C8A88550D2}"/>
              </a:ext>
            </a:extLst>
          </p:cNvPr>
          <p:cNvSpPr/>
          <p:nvPr userDrawn="1"/>
        </p:nvSpPr>
        <p:spPr bwMode="black">
          <a:xfrm>
            <a:off x="10588752" y="6428232"/>
            <a:ext cx="1211639" cy="246888"/>
          </a:xfrm>
          <a:custGeom>
            <a:avLst/>
            <a:gdLst>
              <a:gd name="connsiteX0" fmla="*/ 9329240 w 10020924"/>
              <a:gd name="connsiteY0" fmla="*/ 1080290 h 2041903"/>
              <a:gd name="connsiteX1" fmla="*/ 9251983 w 10020924"/>
              <a:gd name="connsiteY1" fmla="*/ 1187029 h 2041903"/>
              <a:gd name="connsiteX2" fmla="*/ 9329240 w 10020924"/>
              <a:gd name="connsiteY2" fmla="*/ 1296468 h 2041903"/>
              <a:gd name="connsiteX3" fmla="*/ 9782722 w 10020924"/>
              <a:gd name="connsiteY3" fmla="*/ 1296468 h 2041903"/>
              <a:gd name="connsiteX4" fmla="*/ 9782722 w 10020924"/>
              <a:gd name="connsiteY4" fmla="*/ 1080290 h 2041903"/>
              <a:gd name="connsiteX5" fmla="*/ 7331825 w 10020924"/>
              <a:gd name="connsiteY5" fmla="*/ 1080290 h 2041903"/>
              <a:gd name="connsiteX6" fmla="*/ 7254583 w 10020924"/>
              <a:gd name="connsiteY6" fmla="*/ 1187029 h 2041903"/>
              <a:gd name="connsiteX7" fmla="*/ 7331825 w 10020924"/>
              <a:gd name="connsiteY7" fmla="*/ 1296468 h 2041903"/>
              <a:gd name="connsiteX8" fmla="*/ 7785307 w 10020924"/>
              <a:gd name="connsiteY8" fmla="*/ 1296468 h 2041903"/>
              <a:gd name="connsiteX9" fmla="*/ 7785307 w 10020924"/>
              <a:gd name="connsiteY9" fmla="*/ 1080290 h 2041903"/>
              <a:gd name="connsiteX10" fmla="*/ 6171264 w 10020924"/>
              <a:gd name="connsiteY10" fmla="*/ 689323 h 2041903"/>
              <a:gd name="connsiteX11" fmla="*/ 6171264 w 10020924"/>
              <a:gd name="connsiteY11" fmla="*/ 1297318 h 2041903"/>
              <a:gd name="connsiteX12" fmla="*/ 6558679 w 10020924"/>
              <a:gd name="connsiteY12" fmla="*/ 1297318 h 2041903"/>
              <a:gd name="connsiteX13" fmla="*/ 6679368 w 10020924"/>
              <a:gd name="connsiteY13" fmla="*/ 1156413 h 2041903"/>
              <a:gd name="connsiteX14" fmla="*/ 6679368 w 10020924"/>
              <a:gd name="connsiteY14" fmla="*/ 830244 h 2041903"/>
              <a:gd name="connsiteX15" fmla="*/ 6558679 w 10020924"/>
              <a:gd name="connsiteY15" fmla="*/ 689323 h 2041903"/>
              <a:gd name="connsiteX16" fmla="*/ 9072763 w 10020924"/>
              <a:gd name="connsiteY16" fmla="*/ 463851 h 2041903"/>
              <a:gd name="connsiteX17" fmla="*/ 9678449 w 10020924"/>
              <a:gd name="connsiteY17" fmla="*/ 463851 h 2041903"/>
              <a:gd name="connsiteX18" fmla="*/ 10020924 w 10020924"/>
              <a:gd name="connsiteY18" fmla="*/ 826574 h 2041903"/>
              <a:gd name="connsiteX19" fmla="*/ 10020924 w 10020924"/>
              <a:gd name="connsiteY19" fmla="*/ 1522671 h 2041903"/>
              <a:gd name="connsiteX20" fmla="*/ 9304207 w 10020924"/>
              <a:gd name="connsiteY20" fmla="*/ 1522671 h 2041903"/>
              <a:gd name="connsiteX21" fmla="*/ 9015771 w 10020924"/>
              <a:gd name="connsiteY21" fmla="*/ 1219793 h 2041903"/>
              <a:gd name="connsiteX22" fmla="*/ 9015771 w 10020924"/>
              <a:gd name="connsiteY22" fmla="*/ 1169781 h 2041903"/>
              <a:gd name="connsiteX23" fmla="*/ 9294061 w 10020924"/>
              <a:gd name="connsiteY23" fmla="*/ 866738 h 2041903"/>
              <a:gd name="connsiteX24" fmla="*/ 9782829 w 10020924"/>
              <a:gd name="connsiteY24" fmla="*/ 866738 h 2041903"/>
              <a:gd name="connsiteX25" fmla="*/ 9782707 w 10020924"/>
              <a:gd name="connsiteY25" fmla="*/ 829349 h 2041903"/>
              <a:gd name="connsiteX26" fmla="*/ 9662481 w 10020924"/>
              <a:gd name="connsiteY26" fmla="*/ 688428 h 2041903"/>
              <a:gd name="connsiteX27" fmla="*/ 9072763 w 10020924"/>
              <a:gd name="connsiteY27" fmla="*/ 688428 h 2041903"/>
              <a:gd name="connsiteX28" fmla="*/ 8071817 w 10020924"/>
              <a:gd name="connsiteY28" fmla="*/ 463851 h 2041903"/>
              <a:gd name="connsiteX29" fmla="*/ 8991911 w 10020924"/>
              <a:gd name="connsiteY29" fmla="*/ 463851 h 2041903"/>
              <a:gd name="connsiteX30" fmla="*/ 8991911 w 10020924"/>
              <a:gd name="connsiteY30" fmla="*/ 686668 h 2041903"/>
              <a:gd name="connsiteX31" fmla="*/ 8652240 w 10020924"/>
              <a:gd name="connsiteY31" fmla="*/ 686668 h 2041903"/>
              <a:gd name="connsiteX32" fmla="*/ 8652240 w 10020924"/>
              <a:gd name="connsiteY32" fmla="*/ 1522955 h 2041903"/>
              <a:gd name="connsiteX33" fmla="*/ 8411534 w 10020924"/>
              <a:gd name="connsiteY33" fmla="*/ 1522955 h 2041903"/>
              <a:gd name="connsiteX34" fmla="*/ 8411534 w 10020924"/>
              <a:gd name="connsiteY34" fmla="*/ 686668 h 2041903"/>
              <a:gd name="connsiteX35" fmla="*/ 8071817 w 10020924"/>
              <a:gd name="connsiteY35" fmla="*/ 686668 h 2041903"/>
              <a:gd name="connsiteX36" fmla="*/ 7075333 w 10020924"/>
              <a:gd name="connsiteY36" fmla="*/ 463851 h 2041903"/>
              <a:gd name="connsiteX37" fmla="*/ 7681075 w 10020924"/>
              <a:gd name="connsiteY37" fmla="*/ 463851 h 2041903"/>
              <a:gd name="connsiteX38" fmla="*/ 8023417 w 10020924"/>
              <a:gd name="connsiteY38" fmla="*/ 826574 h 2041903"/>
              <a:gd name="connsiteX39" fmla="*/ 8023417 w 10020924"/>
              <a:gd name="connsiteY39" fmla="*/ 1522671 h 2041903"/>
              <a:gd name="connsiteX40" fmla="*/ 7306759 w 10020924"/>
              <a:gd name="connsiteY40" fmla="*/ 1522671 h 2041903"/>
              <a:gd name="connsiteX41" fmla="*/ 7018293 w 10020924"/>
              <a:gd name="connsiteY41" fmla="*/ 1219793 h 2041903"/>
              <a:gd name="connsiteX42" fmla="*/ 7018293 w 10020924"/>
              <a:gd name="connsiteY42" fmla="*/ 1169781 h 2041903"/>
              <a:gd name="connsiteX43" fmla="*/ 7296628 w 10020924"/>
              <a:gd name="connsiteY43" fmla="*/ 866738 h 2041903"/>
              <a:gd name="connsiteX44" fmla="*/ 7785307 w 10020924"/>
              <a:gd name="connsiteY44" fmla="*/ 866738 h 2041903"/>
              <a:gd name="connsiteX45" fmla="*/ 7785307 w 10020924"/>
              <a:gd name="connsiteY45" fmla="*/ 829349 h 2041903"/>
              <a:gd name="connsiteX46" fmla="*/ 7665080 w 10020924"/>
              <a:gd name="connsiteY46" fmla="*/ 688428 h 2041903"/>
              <a:gd name="connsiteX47" fmla="*/ 7075333 w 10020924"/>
              <a:gd name="connsiteY47" fmla="*/ 688428 h 2041903"/>
              <a:gd name="connsiteX48" fmla="*/ 5930572 w 10020924"/>
              <a:gd name="connsiteY48" fmla="*/ 463851 h 2041903"/>
              <a:gd name="connsiteX49" fmla="*/ 6574718 w 10020924"/>
              <a:gd name="connsiteY49" fmla="*/ 463851 h 2041903"/>
              <a:gd name="connsiteX50" fmla="*/ 6925013 w 10020924"/>
              <a:gd name="connsiteY50" fmla="*/ 834884 h 2041903"/>
              <a:gd name="connsiteX51" fmla="*/ 6925013 w 10020924"/>
              <a:gd name="connsiteY51" fmla="*/ 1151743 h 2041903"/>
              <a:gd name="connsiteX52" fmla="*/ 6585968 w 10020924"/>
              <a:gd name="connsiteY52" fmla="*/ 1522671 h 2041903"/>
              <a:gd name="connsiteX53" fmla="*/ 5930572 w 10020924"/>
              <a:gd name="connsiteY53" fmla="*/ 1522671 h 2041903"/>
              <a:gd name="connsiteX54" fmla="*/ 4717895 w 10020924"/>
              <a:gd name="connsiteY54" fmla="*/ 463851 h 2041903"/>
              <a:gd name="connsiteX55" fmla="*/ 5638093 w 10020924"/>
              <a:gd name="connsiteY55" fmla="*/ 463851 h 2041903"/>
              <a:gd name="connsiteX56" fmla="*/ 5638093 w 10020924"/>
              <a:gd name="connsiteY56" fmla="*/ 686668 h 2041903"/>
              <a:gd name="connsiteX57" fmla="*/ 5298318 w 10020924"/>
              <a:gd name="connsiteY57" fmla="*/ 686668 h 2041903"/>
              <a:gd name="connsiteX58" fmla="*/ 5298318 w 10020924"/>
              <a:gd name="connsiteY58" fmla="*/ 1522955 h 2041903"/>
              <a:gd name="connsiteX59" fmla="*/ 5057626 w 10020924"/>
              <a:gd name="connsiteY59" fmla="*/ 1522955 h 2041903"/>
              <a:gd name="connsiteX60" fmla="*/ 5057626 w 10020924"/>
              <a:gd name="connsiteY60" fmla="*/ 686668 h 2041903"/>
              <a:gd name="connsiteX61" fmla="*/ 4717895 w 10020924"/>
              <a:gd name="connsiteY61" fmla="*/ 686668 h 2041903"/>
              <a:gd name="connsiteX62" fmla="*/ 3721291 w 10020924"/>
              <a:gd name="connsiteY62" fmla="*/ 463851 h 2041903"/>
              <a:gd name="connsiteX63" fmla="*/ 4641430 w 10020924"/>
              <a:gd name="connsiteY63" fmla="*/ 463851 h 2041903"/>
              <a:gd name="connsiteX64" fmla="*/ 4641430 w 10020924"/>
              <a:gd name="connsiteY64" fmla="*/ 686668 h 2041903"/>
              <a:gd name="connsiteX65" fmla="*/ 4301654 w 10020924"/>
              <a:gd name="connsiteY65" fmla="*/ 686668 h 2041903"/>
              <a:gd name="connsiteX66" fmla="*/ 4301654 w 10020924"/>
              <a:gd name="connsiteY66" fmla="*/ 1522955 h 2041903"/>
              <a:gd name="connsiteX67" fmla="*/ 4061067 w 10020924"/>
              <a:gd name="connsiteY67" fmla="*/ 1522955 h 2041903"/>
              <a:gd name="connsiteX68" fmla="*/ 4061067 w 10020924"/>
              <a:gd name="connsiteY68" fmla="*/ 686668 h 2041903"/>
              <a:gd name="connsiteX69" fmla="*/ 3721291 w 10020924"/>
              <a:gd name="connsiteY69" fmla="*/ 686668 h 2041903"/>
              <a:gd name="connsiteX70" fmla="*/ 2809822 w 10020924"/>
              <a:gd name="connsiteY70" fmla="*/ 452019 h 2041903"/>
              <a:gd name="connsiteX71" fmla="*/ 3016077 w 10020924"/>
              <a:gd name="connsiteY71" fmla="*/ 572753 h 2041903"/>
              <a:gd name="connsiteX72" fmla="*/ 3381948 w 10020924"/>
              <a:gd name="connsiteY72" fmla="*/ 1270566 h 2041903"/>
              <a:gd name="connsiteX73" fmla="*/ 3400240 w 10020924"/>
              <a:gd name="connsiteY73" fmla="*/ 1281756 h 2041903"/>
              <a:gd name="connsiteX74" fmla="*/ 3406134 w 10020924"/>
              <a:gd name="connsiteY74" fmla="*/ 1255736 h 2041903"/>
              <a:gd name="connsiteX75" fmla="*/ 3402657 w 10020924"/>
              <a:gd name="connsiteY75" fmla="*/ 1123946 h 2041903"/>
              <a:gd name="connsiteX76" fmla="*/ 3402657 w 10020924"/>
              <a:gd name="connsiteY76" fmla="*/ 463522 h 2041903"/>
              <a:gd name="connsiteX77" fmla="*/ 3639813 w 10020924"/>
              <a:gd name="connsiteY77" fmla="*/ 463522 h 2041903"/>
              <a:gd name="connsiteX78" fmla="*/ 3639813 w 10020924"/>
              <a:gd name="connsiteY78" fmla="*/ 1255333 h 2041903"/>
              <a:gd name="connsiteX79" fmla="*/ 3425426 w 10020924"/>
              <a:gd name="connsiteY79" fmla="*/ 1534727 h 2041903"/>
              <a:gd name="connsiteX80" fmla="*/ 3219125 w 10020924"/>
              <a:gd name="connsiteY80" fmla="*/ 1413949 h 2041903"/>
              <a:gd name="connsiteX81" fmla="*/ 2853165 w 10020924"/>
              <a:gd name="connsiteY81" fmla="*/ 716135 h 2041903"/>
              <a:gd name="connsiteX82" fmla="*/ 2834887 w 10020924"/>
              <a:gd name="connsiteY82" fmla="*/ 704930 h 2041903"/>
              <a:gd name="connsiteX83" fmla="*/ 2829009 w 10020924"/>
              <a:gd name="connsiteY83" fmla="*/ 730980 h 2041903"/>
              <a:gd name="connsiteX84" fmla="*/ 2832590 w 10020924"/>
              <a:gd name="connsiteY84" fmla="*/ 862725 h 2041903"/>
              <a:gd name="connsiteX85" fmla="*/ 2832590 w 10020924"/>
              <a:gd name="connsiteY85" fmla="*/ 1523194 h 2041903"/>
              <a:gd name="connsiteX86" fmla="*/ 2595360 w 10020924"/>
              <a:gd name="connsiteY86" fmla="*/ 1523194 h 2041903"/>
              <a:gd name="connsiteX87" fmla="*/ 2595360 w 10020924"/>
              <a:gd name="connsiteY87" fmla="*/ 731368 h 2041903"/>
              <a:gd name="connsiteX88" fmla="*/ 2809822 w 10020924"/>
              <a:gd name="connsiteY88" fmla="*/ 452019 h 2041903"/>
              <a:gd name="connsiteX89" fmla="*/ 1079247 w 10020924"/>
              <a:gd name="connsiteY89" fmla="*/ 330967 h 2041903"/>
              <a:gd name="connsiteX90" fmla="*/ 952084 w 10020924"/>
              <a:gd name="connsiteY90" fmla="*/ 465588 h 2041903"/>
              <a:gd name="connsiteX91" fmla="*/ 887125 w 10020924"/>
              <a:gd name="connsiteY91" fmla="*/ 684091 h 2041903"/>
              <a:gd name="connsiteX92" fmla="*/ 940315 w 10020924"/>
              <a:gd name="connsiteY92" fmla="*/ 833769 h 2041903"/>
              <a:gd name="connsiteX93" fmla="*/ 1079206 w 10020924"/>
              <a:gd name="connsiteY93" fmla="*/ 894946 h 2041903"/>
              <a:gd name="connsiteX94" fmla="*/ 1218097 w 10020924"/>
              <a:gd name="connsiteY94" fmla="*/ 833769 h 2041903"/>
              <a:gd name="connsiteX95" fmla="*/ 1271286 w 10020924"/>
              <a:gd name="connsiteY95" fmla="*/ 684091 h 2041903"/>
              <a:gd name="connsiteX96" fmla="*/ 1206328 w 10020924"/>
              <a:gd name="connsiteY96" fmla="*/ 465588 h 2041903"/>
              <a:gd name="connsiteX97" fmla="*/ 1079247 w 10020924"/>
              <a:gd name="connsiteY97" fmla="*/ 330967 h 2041903"/>
              <a:gd name="connsiteX98" fmla="*/ 805966 w 10020924"/>
              <a:gd name="connsiteY98" fmla="*/ 263259 h 2041903"/>
              <a:gd name="connsiteX99" fmla="*/ 446364 w 10020924"/>
              <a:gd name="connsiteY99" fmla="*/ 449558 h 2041903"/>
              <a:gd name="connsiteX100" fmla="*/ 316290 w 10020924"/>
              <a:gd name="connsiteY100" fmla="*/ 671430 h 2041903"/>
              <a:gd name="connsiteX101" fmla="*/ 265280 w 10020924"/>
              <a:gd name="connsiteY101" fmla="*/ 958605 h 2041903"/>
              <a:gd name="connsiteX102" fmla="*/ 329833 w 10020924"/>
              <a:gd name="connsiteY102" fmla="*/ 1280240 h 2041903"/>
              <a:gd name="connsiteX103" fmla="*/ 505249 w 10020924"/>
              <a:gd name="connsiteY103" fmla="*/ 1539802 h 2041903"/>
              <a:gd name="connsiteX104" fmla="*/ 764163 w 10020924"/>
              <a:gd name="connsiteY104" fmla="*/ 1713204 h 2041903"/>
              <a:gd name="connsiteX105" fmla="*/ 1079208 w 10020924"/>
              <a:gd name="connsiteY105" fmla="*/ 1776358 h 2041903"/>
              <a:gd name="connsiteX106" fmla="*/ 1394254 w 10020924"/>
              <a:gd name="connsiteY106" fmla="*/ 1713204 h 2041903"/>
              <a:gd name="connsiteX107" fmla="*/ 1653167 w 10020924"/>
              <a:gd name="connsiteY107" fmla="*/ 1539802 h 2041903"/>
              <a:gd name="connsiteX108" fmla="*/ 1828584 w 10020924"/>
              <a:gd name="connsiteY108" fmla="*/ 1280240 h 2041903"/>
              <a:gd name="connsiteX109" fmla="*/ 1893137 w 10020924"/>
              <a:gd name="connsiteY109" fmla="*/ 958605 h 2041903"/>
              <a:gd name="connsiteX110" fmla="*/ 1843297 w 10020924"/>
              <a:gd name="connsiteY110" fmla="*/ 674433 h 2041903"/>
              <a:gd name="connsiteX111" fmla="*/ 1715171 w 10020924"/>
              <a:gd name="connsiteY111" fmla="*/ 452650 h 2041903"/>
              <a:gd name="connsiteX112" fmla="*/ 1352451 w 10020924"/>
              <a:gd name="connsiteY112" fmla="*/ 263259 h 2041903"/>
              <a:gd name="connsiteX113" fmla="*/ 1489332 w 10020924"/>
              <a:gd name="connsiteY113" fmla="*/ 469668 h 2041903"/>
              <a:gd name="connsiteX114" fmla="*/ 1533501 w 10020924"/>
              <a:gd name="connsiteY114" fmla="*/ 697463 h 2041903"/>
              <a:gd name="connsiteX115" fmla="*/ 1395669 w 10020924"/>
              <a:gd name="connsiteY115" fmla="*/ 1031243 h 2041903"/>
              <a:gd name="connsiteX116" fmla="*/ 1079208 w 10020924"/>
              <a:gd name="connsiteY116" fmla="*/ 1160853 h 2041903"/>
              <a:gd name="connsiteX117" fmla="*/ 762748 w 10020924"/>
              <a:gd name="connsiteY117" fmla="*/ 1031243 h 2041903"/>
              <a:gd name="connsiteX118" fmla="*/ 624916 w 10020924"/>
              <a:gd name="connsiteY118" fmla="*/ 697463 h 2041903"/>
              <a:gd name="connsiteX119" fmla="*/ 673201 w 10020924"/>
              <a:gd name="connsiteY119" fmla="*/ 463015 h 2041903"/>
              <a:gd name="connsiteX120" fmla="*/ 805966 w 10020924"/>
              <a:gd name="connsiteY120" fmla="*/ 263259 h 2041903"/>
              <a:gd name="connsiteX121" fmla="*/ 817834 w 10020924"/>
              <a:gd name="connsiteY121" fmla="*/ 0 h 2041903"/>
              <a:gd name="connsiteX122" fmla="*/ 963091 w 10020924"/>
              <a:gd name="connsiteY122" fmla="*/ 14770 h 2041903"/>
              <a:gd name="connsiteX123" fmla="*/ 1079167 w 10020924"/>
              <a:gd name="connsiteY123" fmla="*/ 48893 h 2041903"/>
              <a:gd name="connsiteX124" fmla="*/ 1194646 w 10020924"/>
              <a:gd name="connsiteY124" fmla="*/ 14436 h 2041903"/>
              <a:gd name="connsiteX125" fmla="*/ 1340583 w 10020924"/>
              <a:gd name="connsiteY125" fmla="*/ 0 h 2041903"/>
              <a:gd name="connsiteX126" fmla="*/ 1649693 w 10020924"/>
              <a:gd name="connsiteY126" fmla="*/ 72213 h 2041903"/>
              <a:gd name="connsiteX127" fmla="*/ 1910677 w 10020924"/>
              <a:gd name="connsiteY127" fmla="*/ 272891 h 2041903"/>
              <a:gd name="connsiteX128" fmla="*/ 2091072 w 10020924"/>
              <a:gd name="connsiteY128" fmla="*/ 578096 h 2041903"/>
              <a:gd name="connsiteX129" fmla="*/ 2158417 w 10020924"/>
              <a:gd name="connsiteY129" fmla="*/ 963886 h 2041903"/>
              <a:gd name="connsiteX130" fmla="*/ 2071704 w 10020924"/>
              <a:gd name="connsiteY130" fmla="*/ 1388805 h 2041903"/>
              <a:gd name="connsiteX131" fmla="*/ 1837251 w 10020924"/>
              <a:gd name="connsiteY131" fmla="*/ 1730875 h 2041903"/>
              <a:gd name="connsiteX132" fmla="*/ 1493585 w 10020924"/>
              <a:gd name="connsiteY132" fmla="*/ 1958956 h 2041903"/>
              <a:gd name="connsiteX133" fmla="*/ 1079208 w 10020924"/>
              <a:gd name="connsiteY133" fmla="*/ 2041903 h 2041903"/>
              <a:gd name="connsiteX134" fmla="*/ 664832 w 10020924"/>
              <a:gd name="connsiteY134" fmla="*/ 1958956 h 2041903"/>
              <a:gd name="connsiteX135" fmla="*/ 321166 w 10020924"/>
              <a:gd name="connsiteY135" fmla="*/ 1730875 h 2041903"/>
              <a:gd name="connsiteX136" fmla="*/ 86713 w 10020924"/>
              <a:gd name="connsiteY136" fmla="*/ 1388805 h 2041903"/>
              <a:gd name="connsiteX137" fmla="*/ 0 w 10020924"/>
              <a:gd name="connsiteY137" fmla="*/ 963886 h 2041903"/>
              <a:gd name="connsiteX138" fmla="*/ 67345 w 10020924"/>
              <a:gd name="connsiteY138" fmla="*/ 578096 h 2041903"/>
              <a:gd name="connsiteX139" fmla="*/ 247740 w 10020924"/>
              <a:gd name="connsiteY139" fmla="*/ 272891 h 2041903"/>
              <a:gd name="connsiteX140" fmla="*/ 508723 w 10020924"/>
              <a:gd name="connsiteY140" fmla="*/ 72213 h 2041903"/>
              <a:gd name="connsiteX141" fmla="*/ 817834 w 10020924"/>
              <a:gd name="connsiteY141" fmla="*/ 0 h 2041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10020924" h="2041903">
                <a:moveTo>
                  <a:pt x="9329240" y="1080290"/>
                </a:moveTo>
                <a:cubicBezTo>
                  <a:pt x="9292358" y="1080290"/>
                  <a:pt x="9251983" y="1096116"/>
                  <a:pt x="9251983" y="1187029"/>
                </a:cubicBezTo>
                <a:cubicBezTo>
                  <a:pt x="9251983" y="1277880"/>
                  <a:pt x="9292801" y="1296468"/>
                  <a:pt x="9329240" y="1296468"/>
                </a:cubicBezTo>
                <a:lnTo>
                  <a:pt x="9782722" y="1296468"/>
                </a:lnTo>
                <a:lnTo>
                  <a:pt x="9782722" y="1080290"/>
                </a:lnTo>
                <a:close/>
                <a:moveTo>
                  <a:pt x="7331825" y="1080290"/>
                </a:moveTo>
                <a:cubicBezTo>
                  <a:pt x="7294927" y="1080290"/>
                  <a:pt x="7254583" y="1096116"/>
                  <a:pt x="7254583" y="1187029"/>
                </a:cubicBezTo>
                <a:cubicBezTo>
                  <a:pt x="7254583" y="1277880"/>
                  <a:pt x="7295379" y="1296468"/>
                  <a:pt x="7331825" y="1296468"/>
                </a:cubicBezTo>
                <a:lnTo>
                  <a:pt x="7785307" y="1296468"/>
                </a:lnTo>
                <a:lnTo>
                  <a:pt x="7785307" y="1080290"/>
                </a:lnTo>
                <a:close/>
                <a:moveTo>
                  <a:pt x="6171264" y="689323"/>
                </a:moveTo>
                <a:lnTo>
                  <a:pt x="6171264" y="1297318"/>
                </a:lnTo>
                <a:lnTo>
                  <a:pt x="6558679" y="1297318"/>
                </a:lnTo>
                <a:cubicBezTo>
                  <a:pt x="6645146" y="1297318"/>
                  <a:pt x="6679368" y="1257837"/>
                  <a:pt x="6679368" y="1156413"/>
                </a:cubicBezTo>
                <a:lnTo>
                  <a:pt x="6679368" y="830244"/>
                </a:lnTo>
                <a:cubicBezTo>
                  <a:pt x="6679368" y="728827"/>
                  <a:pt x="6645146" y="689323"/>
                  <a:pt x="6558679" y="689323"/>
                </a:cubicBezTo>
                <a:close/>
                <a:moveTo>
                  <a:pt x="9072763" y="463851"/>
                </a:moveTo>
                <a:lnTo>
                  <a:pt x="9678449" y="463851"/>
                </a:lnTo>
                <a:cubicBezTo>
                  <a:pt x="9932730" y="463851"/>
                  <a:pt x="10020924" y="559816"/>
                  <a:pt x="10020924" y="826574"/>
                </a:cubicBezTo>
                <a:lnTo>
                  <a:pt x="10020924" y="1522671"/>
                </a:lnTo>
                <a:lnTo>
                  <a:pt x="9304207" y="1522671"/>
                </a:lnTo>
                <a:cubicBezTo>
                  <a:pt x="9111641" y="1522671"/>
                  <a:pt x="9015771" y="1435849"/>
                  <a:pt x="9015771" y="1219793"/>
                </a:cubicBezTo>
                <a:lnTo>
                  <a:pt x="9015771" y="1169781"/>
                </a:lnTo>
                <a:cubicBezTo>
                  <a:pt x="9015771" y="959714"/>
                  <a:pt x="9108248" y="866738"/>
                  <a:pt x="9294061" y="866738"/>
                </a:cubicBezTo>
                <a:lnTo>
                  <a:pt x="9782829" y="866738"/>
                </a:lnTo>
                <a:cubicBezTo>
                  <a:pt x="9782829" y="858122"/>
                  <a:pt x="9782707" y="829861"/>
                  <a:pt x="9782707" y="829349"/>
                </a:cubicBezTo>
                <a:cubicBezTo>
                  <a:pt x="9782707" y="727955"/>
                  <a:pt x="9749047" y="688428"/>
                  <a:pt x="9662481" y="688428"/>
                </a:cubicBezTo>
                <a:lnTo>
                  <a:pt x="9072763" y="688428"/>
                </a:lnTo>
                <a:close/>
                <a:moveTo>
                  <a:pt x="8071817" y="463851"/>
                </a:moveTo>
                <a:lnTo>
                  <a:pt x="8991911" y="463851"/>
                </a:lnTo>
                <a:lnTo>
                  <a:pt x="8991911" y="686668"/>
                </a:lnTo>
                <a:lnTo>
                  <a:pt x="8652240" y="686668"/>
                </a:lnTo>
                <a:lnTo>
                  <a:pt x="8652240" y="1522955"/>
                </a:lnTo>
                <a:lnTo>
                  <a:pt x="8411534" y="1522955"/>
                </a:lnTo>
                <a:lnTo>
                  <a:pt x="8411534" y="686668"/>
                </a:lnTo>
                <a:lnTo>
                  <a:pt x="8071817" y="686668"/>
                </a:lnTo>
                <a:close/>
                <a:moveTo>
                  <a:pt x="7075333" y="463851"/>
                </a:moveTo>
                <a:lnTo>
                  <a:pt x="7681075" y="463851"/>
                </a:lnTo>
                <a:cubicBezTo>
                  <a:pt x="7935303" y="463851"/>
                  <a:pt x="8023424" y="559816"/>
                  <a:pt x="8023417" y="826574"/>
                </a:cubicBezTo>
                <a:lnTo>
                  <a:pt x="8023417" y="1522671"/>
                </a:lnTo>
                <a:lnTo>
                  <a:pt x="7306759" y="1522671"/>
                </a:lnTo>
                <a:cubicBezTo>
                  <a:pt x="7114170" y="1522671"/>
                  <a:pt x="7018293" y="1435849"/>
                  <a:pt x="7018293" y="1219793"/>
                </a:cubicBezTo>
                <a:lnTo>
                  <a:pt x="7018293" y="1169781"/>
                </a:lnTo>
                <a:cubicBezTo>
                  <a:pt x="7018293" y="959714"/>
                  <a:pt x="7110792" y="866738"/>
                  <a:pt x="7296628" y="866738"/>
                </a:cubicBezTo>
                <a:lnTo>
                  <a:pt x="7785307" y="866738"/>
                </a:lnTo>
                <a:lnTo>
                  <a:pt x="7785307" y="829349"/>
                </a:lnTo>
                <a:cubicBezTo>
                  <a:pt x="7785307" y="727955"/>
                  <a:pt x="7751547" y="688428"/>
                  <a:pt x="7665080" y="688428"/>
                </a:cubicBezTo>
                <a:lnTo>
                  <a:pt x="7075333" y="688428"/>
                </a:lnTo>
                <a:close/>
                <a:moveTo>
                  <a:pt x="5930572" y="463851"/>
                </a:moveTo>
                <a:lnTo>
                  <a:pt x="6574718" y="463851"/>
                </a:lnTo>
                <a:cubicBezTo>
                  <a:pt x="6817412" y="463851"/>
                  <a:pt x="6925013" y="557409"/>
                  <a:pt x="6925013" y="834884"/>
                </a:cubicBezTo>
                <a:lnTo>
                  <a:pt x="6925013" y="1151743"/>
                </a:lnTo>
                <a:cubicBezTo>
                  <a:pt x="6925013" y="1394650"/>
                  <a:pt x="6843589" y="1522671"/>
                  <a:pt x="6585968" y="1522671"/>
                </a:cubicBezTo>
                <a:lnTo>
                  <a:pt x="5930572" y="1522671"/>
                </a:lnTo>
                <a:close/>
                <a:moveTo>
                  <a:pt x="4717895" y="463851"/>
                </a:moveTo>
                <a:lnTo>
                  <a:pt x="5638093" y="463851"/>
                </a:lnTo>
                <a:lnTo>
                  <a:pt x="5638093" y="686668"/>
                </a:lnTo>
                <a:lnTo>
                  <a:pt x="5298318" y="686668"/>
                </a:lnTo>
                <a:lnTo>
                  <a:pt x="5298318" y="1522955"/>
                </a:lnTo>
                <a:lnTo>
                  <a:pt x="5057626" y="1522955"/>
                </a:lnTo>
                <a:lnTo>
                  <a:pt x="5057626" y="686668"/>
                </a:lnTo>
                <a:lnTo>
                  <a:pt x="4717895" y="686668"/>
                </a:lnTo>
                <a:close/>
                <a:moveTo>
                  <a:pt x="3721291" y="463851"/>
                </a:moveTo>
                <a:lnTo>
                  <a:pt x="4641430" y="463851"/>
                </a:lnTo>
                <a:lnTo>
                  <a:pt x="4641430" y="686668"/>
                </a:lnTo>
                <a:lnTo>
                  <a:pt x="4301654" y="686668"/>
                </a:lnTo>
                <a:lnTo>
                  <a:pt x="4301654" y="1522955"/>
                </a:lnTo>
                <a:lnTo>
                  <a:pt x="4061067" y="1522955"/>
                </a:lnTo>
                <a:lnTo>
                  <a:pt x="4061067" y="686668"/>
                </a:lnTo>
                <a:lnTo>
                  <a:pt x="3721291" y="686668"/>
                </a:lnTo>
                <a:close/>
                <a:moveTo>
                  <a:pt x="2809822" y="452019"/>
                </a:moveTo>
                <a:cubicBezTo>
                  <a:pt x="2915562" y="452019"/>
                  <a:pt x="2970732" y="501487"/>
                  <a:pt x="3016077" y="572753"/>
                </a:cubicBezTo>
                <a:cubicBezTo>
                  <a:pt x="3055320" y="634446"/>
                  <a:pt x="3376830" y="1260842"/>
                  <a:pt x="3381948" y="1270566"/>
                </a:cubicBezTo>
                <a:cubicBezTo>
                  <a:pt x="3386677" y="1279328"/>
                  <a:pt x="3393442" y="1285729"/>
                  <a:pt x="3400240" y="1281756"/>
                </a:cubicBezTo>
                <a:cubicBezTo>
                  <a:pt x="3406237" y="1278349"/>
                  <a:pt x="3406646" y="1267378"/>
                  <a:pt x="3406134" y="1255736"/>
                </a:cubicBezTo>
                <a:cubicBezTo>
                  <a:pt x="3405492" y="1241619"/>
                  <a:pt x="3402657" y="1171378"/>
                  <a:pt x="3402657" y="1123946"/>
                </a:cubicBezTo>
                <a:lnTo>
                  <a:pt x="3402657" y="463522"/>
                </a:lnTo>
                <a:lnTo>
                  <a:pt x="3639813" y="463522"/>
                </a:lnTo>
                <a:lnTo>
                  <a:pt x="3639813" y="1255333"/>
                </a:lnTo>
                <a:cubicBezTo>
                  <a:pt x="3639813" y="1491113"/>
                  <a:pt x="3523557" y="1534727"/>
                  <a:pt x="3425426" y="1534727"/>
                </a:cubicBezTo>
                <a:cubicBezTo>
                  <a:pt x="3319670" y="1534727"/>
                  <a:pt x="3264509" y="1485221"/>
                  <a:pt x="3219125" y="1413949"/>
                </a:cubicBezTo>
                <a:cubicBezTo>
                  <a:pt x="3155813" y="1314503"/>
                  <a:pt x="2857763" y="724966"/>
                  <a:pt x="2853165" y="716135"/>
                </a:cubicBezTo>
                <a:cubicBezTo>
                  <a:pt x="2848558" y="707335"/>
                  <a:pt x="2841793" y="701034"/>
                  <a:pt x="2834887" y="704930"/>
                </a:cubicBezTo>
                <a:cubicBezTo>
                  <a:pt x="2829005" y="708344"/>
                  <a:pt x="2828497" y="719338"/>
                  <a:pt x="2829009" y="730980"/>
                </a:cubicBezTo>
                <a:cubicBezTo>
                  <a:pt x="2829628" y="745090"/>
                  <a:pt x="2832590" y="815378"/>
                  <a:pt x="2832590" y="862725"/>
                </a:cubicBezTo>
                <a:lnTo>
                  <a:pt x="2832590" y="1523194"/>
                </a:lnTo>
                <a:lnTo>
                  <a:pt x="2595360" y="1523194"/>
                </a:lnTo>
                <a:lnTo>
                  <a:pt x="2595360" y="731368"/>
                </a:lnTo>
                <a:cubicBezTo>
                  <a:pt x="2595360" y="495611"/>
                  <a:pt x="2711606" y="452019"/>
                  <a:pt x="2809822" y="452019"/>
                </a:cubicBezTo>
                <a:close/>
                <a:moveTo>
                  <a:pt x="1079247" y="330967"/>
                </a:moveTo>
                <a:cubicBezTo>
                  <a:pt x="1039101" y="354484"/>
                  <a:pt x="989740" y="403598"/>
                  <a:pt x="952084" y="465588"/>
                </a:cubicBezTo>
                <a:cubicBezTo>
                  <a:pt x="914427" y="527577"/>
                  <a:pt x="887125" y="603548"/>
                  <a:pt x="887125" y="684091"/>
                </a:cubicBezTo>
                <a:cubicBezTo>
                  <a:pt x="887125" y="743091"/>
                  <a:pt x="906578" y="795805"/>
                  <a:pt x="940315" y="833769"/>
                </a:cubicBezTo>
                <a:cubicBezTo>
                  <a:pt x="974052" y="871732"/>
                  <a:pt x="1022072" y="894946"/>
                  <a:pt x="1079206" y="894946"/>
                </a:cubicBezTo>
                <a:cubicBezTo>
                  <a:pt x="1136340" y="894946"/>
                  <a:pt x="1184360" y="871732"/>
                  <a:pt x="1218097" y="833769"/>
                </a:cubicBezTo>
                <a:cubicBezTo>
                  <a:pt x="1251833" y="795805"/>
                  <a:pt x="1271286" y="743091"/>
                  <a:pt x="1271286" y="684091"/>
                </a:cubicBezTo>
                <a:cubicBezTo>
                  <a:pt x="1271286" y="603548"/>
                  <a:pt x="1243984" y="527577"/>
                  <a:pt x="1206328" y="465588"/>
                </a:cubicBezTo>
                <a:cubicBezTo>
                  <a:pt x="1168672" y="403598"/>
                  <a:pt x="1110735" y="347874"/>
                  <a:pt x="1079247" y="330967"/>
                </a:cubicBezTo>
                <a:close/>
                <a:moveTo>
                  <a:pt x="805966" y="263259"/>
                </a:moveTo>
                <a:cubicBezTo>
                  <a:pt x="686954" y="257894"/>
                  <a:pt x="551782" y="326830"/>
                  <a:pt x="446364" y="449558"/>
                </a:cubicBezTo>
                <a:cubicBezTo>
                  <a:pt x="393654" y="510922"/>
                  <a:pt x="348383" y="585734"/>
                  <a:pt x="316290" y="671430"/>
                </a:cubicBezTo>
                <a:cubicBezTo>
                  <a:pt x="284196" y="757125"/>
                  <a:pt x="265280" y="853705"/>
                  <a:pt x="265280" y="958605"/>
                </a:cubicBezTo>
                <a:cubicBezTo>
                  <a:pt x="265280" y="1073486"/>
                  <a:pt x="288318" y="1182036"/>
                  <a:pt x="329833" y="1280240"/>
                </a:cubicBezTo>
                <a:cubicBezTo>
                  <a:pt x="371348" y="1378444"/>
                  <a:pt x="431341" y="1466303"/>
                  <a:pt x="505249" y="1539802"/>
                </a:cubicBezTo>
                <a:cubicBezTo>
                  <a:pt x="579158" y="1613301"/>
                  <a:pt x="666983" y="1672440"/>
                  <a:pt x="764163" y="1713204"/>
                </a:cubicBezTo>
                <a:cubicBezTo>
                  <a:pt x="861343" y="1753969"/>
                  <a:pt x="967878" y="1776358"/>
                  <a:pt x="1079208" y="1776358"/>
                </a:cubicBezTo>
                <a:cubicBezTo>
                  <a:pt x="1190538" y="1776358"/>
                  <a:pt x="1297074" y="1753969"/>
                  <a:pt x="1394254" y="1713204"/>
                </a:cubicBezTo>
                <a:cubicBezTo>
                  <a:pt x="1491434" y="1672440"/>
                  <a:pt x="1579259" y="1613301"/>
                  <a:pt x="1653167" y="1539802"/>
                </a:cubicBezTo>
                <a:cubicBezTo>
                  <a:pt x="1727076" y="1466303"/>
                  <a:pt x="1787068" y="1378444"/>
                  <a:pt x="1828584" y="1280240"/>
                </a:cubicBezTo>
                <a:cubicBezTo>
                  <a:pt x="1870099" y="1182036"/>
                  <a:pt x="1893137" y="1073486"/>
                  <a:pt x="1893137" y="958605"/>
                </a:cubicBezTo>
                <a:cubicBezTo>
                  <a:pt x="1893137" y="855344"/>
                  <a:pt x="1874740" y="759689"/>
                  <a:pt x="1843297" y="674433"/>
                </a:cubicBezTo>
                <a:cubicBezTo>
                  <a:pt x="1811852" y="589176"/>
                  <a:pt x="1767361" y="514318"/>
                  <a:pt x="1715171" y="452650"/>
                </a:cubicBezTo>
                <a:cubicBezTo>
                  <a:pt x="1610792" y="329313"/>
                  <a:pt x="1475621" y="258738"/>
                  <a:pt x="1352451" y="263259"/>
                </a:cubicBezTo>
                <a:cubicBezTo>
                  <a:pt x="1412945" y="322179"/>
                  <a:pt x="1458865" y="394141"/>
                  <a:pt x="1489332" y="469668"/>
                </a:cubicBezTo>
                <a:cubicBezTo>
                  <a:pt x="1519800" y="545194"/>
                  <a:pt x="1534815" y="624285"/>
                  <a:pt x="1533501" y="697463"/>
                </a:cubicBezTo>
                <a:cubicBezTo>
                  <a:pt x="1533501" y="833577"/>
                  <a:pt x="1479467" y="949424"/>
                  <a:pt x="1395669" y="1031243"/>
                </a:cubicBezTo>
                <a:cubicBezTo>
                  <a:pt x="1311871" y="1113062"/>
                  <a:pt x="1198308" y="1160853"/>
                  <a:pt x="1079208" y="1160853"/>
                </a:cubicBezTo>
                <a:cubicBezTo>
                  <a:pt x="960109" y="1160853"/>
                  <a:pt x="846546" y="1113062"/>
                  <a:pt x="762748" y="1031243"/>
                </a:cubicBezTo>
                <a:cubicBezTo>
                  <a:pt x="678950" y="949424"/>
                  <a:pt x="624916" y="833577"/>
                  <a:pt x="624916" y="697463"/>
                </a:cubicBezTo>
                <a:cubicBezTo>
                  <a:pt x="624916" y="618236"/>
                  <a:pt x="642018" y="537734"/>
                  <a:pt x="673201" y="463015"/>
                </a:cubicBezTo>
                <a:cubicBezTo>
                  <a:pt x="704383" y="388296"/>
                  <a:pt x="749646" y="319359"/>
                  <a:pt x="805966" y="263259"/>
                </a:cubicBezTo>
                <a:close/>
                <a:moveTo>
                  <a:pt x="817834" y="0"/>
                </a:moveTo>
                <a:cubicBezTo>
                  <a:pt x="866589" y="0"/>
                  <a:pt x="917272" y="5772"/>
                  <a:pt x="963091" y="14770"/>
                </a:cubicBezTo>
                <a:cubicBezTo>
                  <a:pt x="1008909" y="23768"/>
                  <a:pt x="1049865" y="35991"/>
                  <a:pt x="1079167" y="48893"/>
                </a:cubicBezTo>
                <a:cubicBezTo>
                  <a:pt x="1107617" y="35545"/>
                  <a:pt x="1148593" y="23322"/>
                  <a:pt x="1194646" y="14436"/>
                </a:cubicBezTo>
                <a:cubicBezTo>
                  <a:pt x="1240699" y="5549"/>
                  <a:pt x="1291827" y="0"/>
                  <a:pt x="1340583" y="0"/>
                </a:cubicBezTo>
                <a:cubicBezTo>
                  <a:pt x="1448034" y="0"/>
                  <a:pt x="1552874" y="25401"/>
                  <a:pt x="1649693" y="72213"/>
                </a:cubicBezTo>
                <a:cubicBezTo>
                  <a:pt x="1746513" y="119025"/>
                  <a:pt x="1835310" y="187248"/>
                  <a:pt x="1910677" y="272891"/>
                </a:cubicBezTo>
                <a:cubicBezTo>
                  <a:pt x="1986043" y="358535"/>
                  <a:pt x="2047978" y="461600"/>
                  <a:pt x="2091072" y="578096"/>
                </a:cubicBezTo>
                <a:cubicBezTo>
                  <a:pt x="2134165" y="694592"/>
                  <a:pt x="2158417" y="824518"/>
                  <a:pt x="2158417" y="963886"/>
                </a:cubicBezTo>
                <a:cubicBezTo>
                  <a:pt x="2158417" y="1115873"/>
                  <a:pt x="2127372" y="1259243"/>
                  <a:pt x="2071704" y="1388805"/>
                </a:cubicBezTo>
                <a:cubicBezTo>
                  <a:pt x="2016036" y="1518366"/>
                  <a:pt x="1935744" y="1634120"/>
                  <a:pt x="1837251" y="1730875"/>
                </a:cubicBezTo>
                <a:cubicBezTo>
                  <a:pt x="1738759" y="1827631"/>
                  <a:pt x="1622064" y="1905388"/>
                  <a:pt x="1493585" y="1958956"/>
                </a:cubicBezTo>
                <a:cubicBezTo>
                  <a:pt x="1365105" y="2012524"/>
                  <a:pt x="1224841" y="2041903"/>
                  <a:pt x="1079208" y="2041903"/>
                </a:cubicBezTo>
                <a:cubicBezTo>
                  <a:pt x="933576" y="2041903"/>
                  <a:pt x="793312" y="2012524"/>
                  <a:pt x="664832" y="1958956"/>
                </a:cubicBezTo>
                <a:cubicBezTo>
                  <a:pt x="536353" y="1905388"/>
                  <a:pt x="419658" y="1827631"/>
                  <a:pt x="321166" y="1730875"/>
                </a:cubicBezTo>
                <a:cubicBezTo>
                  <a:pt x="222673" y="1634120"/>
                  <a:pt x="142381" y="1518366"/>
                  <a:pt x="86713" y="1388805"/>
                </a:cubicBezTo>
                <a:cubicBezTo>
                  <a:pt x="31045" y="1259243"/>
                  <a:pt x="0" y="1115873"/>
                  <a:pt x="0" y="963886"/>
                </a:cubicBezTo>
                <a:cubicBezTo>
                  <a:pt x="0" y="824518"/>
                  <a:pt x="24252" y="694592"/>
                  <a:pt x="67345" y="578096"/>
                </a:cubicBezTo>
                <a:cubicBezTo>
                  <a:pt x="110439" y="461600"/>
                  <a:pt x="172374" y="358535"/>
                  <a:pt x="247740" y="272891"/>
                </a:cubicBezTo>
                <a:cubicBezTo>
                  <a:pt x="323106" y="187248"/>
                  <a:pt x="411904" y="119025"/>
                  <a:pt x="508723" y="72213"/>
                </a:cubicBezTo>
                <a:cubicBezTo>
                  <a:pt x="605542" y="25401"/>
                  <a:pt x="710382" y="0"/>
                  <a:pt x="817834" y="0"/>
                </a:cubicBezTo>
                <a:close/>
              </a:path>
            </a:pathLst>
          </a:custGeom>
          <a:solidFill>
            <a:srgbClr val="0072BC"/>
          </a:solidFill>
          <a:ln w="7639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C2BD25-5BF8-A365-C5DB-4FB3CD604B7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16563" y="6672580"/>
            <a:ext cx="11874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HK" sz="800">
                <a:solidFill>
                  <a:srgbClr val="2E404D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Sensitivity Label: General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67CE1402-73E6-DB02-9FF1-3A496C0FC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2600" y="6400800"/>
            <a:ext cx="1066800" cy="304800"/>
          </a:xfrm>
          <a:prstGeom prst="rect">
            <a:avLst/>
          </a:prstGeom>
        </p:spPr>
        <p:txBody>
          <a:bodyPr anchor="ctr"/>
          <a:lstStyle>
            <a:lvl1pPr>
              <a:defRPr sz="800">
                <a:solidFill>
                  <a:schemeClr val="bg1"/>
                </a:solidFill>
              </a:defRPr>
            </a:lvl1pPr>
          </a:lstStyle>
          <a:p>
            <a:pPr algn="ctr"/>
            <a:fld id="{60D39823-8059-4D49-BD26-6D32C31B8621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863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2800" kern="1200" dirty="0">
          <a:solidFill>
            <a:schemeClr val="bg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227013" indent="-227013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985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2001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712913" indent="-28575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–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11455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547EBF"/>
          </p15:clr>
        </p15:guide>
        <p15:guide id="2" pos="3840">
          <p15:clr>
            <a:srgbClr val="547EBF"/>
          </p15:clr>
        </p15:guide>
        <p15:guide id="4" orient="horz" pos="4020">
          <p15:clr>
            <a:srgbClr val="547EBF"/>
          </p15:clr>
        </p15:guide>
        <p15:guide id="5" orient="horz" pos="3929">
          <p15:clr>
            <a:srgbClr val="547EBF"/>
          </p15:clr>
        </p15:guide>
        <p15:guide id="6" orient="horz" pos="867">
          <p15:clr>
            <a:srgbClr val="FBAE40"/>
          </p15:clr>
        </p15:guide>
        <p15:guide id="7" pos="3908">
          <p15:clr>
            <a:srgbClr val="F26B43"/>
          </p15:clr>
        </p15:guide>
        <p15:guide id="8" pos="3772">
          <p15:clr>
            <a:srgbClr val="F26B43"/>
          </p15:clr>
        </p15:guide>
        <p15:guide id="9" pos="234">
          <p15:clr>
            <a:srgbClr val="547EBF"/>
          </p15:clr>
        </p15:guide>
        <p15:guide id="10" pos="7446">
          <p15:clr>
            <a:srgbClr val="547EBF"/>
          </p15:clr>
        </p15:guide>
        <p15:guide id="14" orient="horz" pos="2409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E07FA-5654-CB4B-9D8B-3C5B70094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72CE5B7-A007-E570-925A-95A4298D2F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82650"/>
            <a:ext cx="11439525" cy="220663"/>
          </a:xfrm>
          <a:noFill/>
          <a:ln/>
        </p:spPr>
        <p:txBody>
          <a:bodyPr vert="horz" wrap="square" lIns="254" tIns="254" rIns="254" bIns="254" rtlCol="0" anchor="t">
            <a:noAutofit/>
          </a:bodyPr>
          <a:lstStyle/>
          <a:p>
            <a:r>
              <a:rPr lang="en-US" dirty="0"/>
              <a:t>Dynamic requirements determine what runs; non-dependent fulfilment starts early; readiness is continuously reassessed and published as structured state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25DAC-1E9C-B154-4331-6892AB5E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3375"/>
            <a:ext cx="11430000" cy="480131"/>
          </a:xfrm>
        </p:spPr>
        <p:txBody>
          <a:bodyPr/>
          <a:lstStyle/>
          <a:p>
            <a:r>
              <a:rPr lang="en-US"/>
              <a:t>Current clear-to-trade process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0ABB5-186B-CE54-607E-A942EBDFB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400800"/>
            <a:ext cx="4114800" cy="3048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D745C-3744-BB41-D442-61BAE8EB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D39823-8059-4D49-BD26-6D32C31B8621}" type="slidenum">
              <a:rPr kumimoji="0" lang="en-AU" sz="800" b="0" i="0" u="none" strike="noStrike" kern="1200" cap="none" spc="0" normalizeH="0" baseline="0" noProof="0" smtClean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AU" sz="800" b="0" i="0" u="none" strike="noStrike" kern="1200" cap="none" spc="0" normalizeH="0" baseline="0" noProof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8556AA2-80F8-4256-8543-4F5674455A18}"/>
              </a:ext>
            </a:extLst>
          </p:cNvPr>
          <p:cNvSpPr/>
          <p:nvPr/>
        </p:nvSpPr>
        <p:spPr>
          <a:xfrm>
            <a:off x="380998" y="1382286"/>
            <a:ext cx="485849" cy="97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0" b="1" i="0" u="none" strike="noStrike" kern="1200" cap="none" spc="0" normalizeH="0" baseline="0" noProof="0">
                <a:ln>
                  <a:noFill/>
                </a:ln>
                <a:solidFill>
                  <a:srgbClr val="63717C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TRIGGER</a:t>
            </a:r>
            <a:endParaRPr kumimoji="0" lang="en-US" sz="6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2590129-E14A-10F3-E757-B8B9818835F0}"/>
              </a:ext>
            </a:extLst>
          </p:cNvPr>
          <p:cNvSpPr/>
          <p:nvPr/>
        </p:nvSpPr>
        <p:spPr>
          <a:xfrm>
            <a:off x="911015" y="1374785"/>
            <a:ext cx="7552738" cy="112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5" b="0" i="0" u="none" strike="noStrike" kern="1200" cap="none" spc="0" normalizeH="0" baseline="0" noProof="0" dirty="0">
                <a:ln>
                  <a:noFill/>
                </a:ln>
                <a:solidFill>
                  <a:srgbClr val="63717C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New relationship  •  product / service extension  •  material client / ownership / risk change  •  refresh / reassessment</a:t>
            </a:r>
            <a:endParaRPr kumimoji="0" lang="en-US" sz="60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AFE95D9-3429-10A1-FADF-F59F0A197A07}"/>
              </a:ext>
            </a:extLst>
          </p:cNvPr>
          <p:cNvSpPr/>
          <p:nvPr/>
        </p:nvSpPr>
        <p:spPr>
          <a:xfrm>
            <a:off x="1261723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F0F2F3"/>
          </a:solidFill>
          <a:ln>
            <a:solidFill>
              <a:srgbClr val="F0F2F3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68737D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M0 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Booking model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determination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DB0637A-A4A7-23EA-C322-BC0649E8637B}"/>
              </a:ext>
            </a:extLst>
          </p:cNvPr>
          <p:cNvSpPr/>
          <p:nvPr/>
        </p:nvSpPr>
        <p:spPr>
          <a:xfrm>
            <a:off x="2436115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DDECEF"/>
          </a:solidFill>
          <a:ln>
            <a:solidFill>
              <a:srgbClr val="DDECEF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E697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Client intake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&amp; triage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D1E2F8C-A35A-6078-8873-5BB15D7A0A7F}"/>
              </a:ext>
            </a:extLst>
          </p:cNvPr>
          <p:cNvSpPr/>
          <p:nvPr/>
        </p:nvSpPr>
        <p:spPr>
          <a:xfrm>
            <a:off x="3610507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DDECEF"/>
          </a:solidFill>
          <a:ln>
            <a:solidFill>
              <a:srgbClr val="DDECEF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E697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Requirements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determination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A84F21B-D4B3-5214-744D-C218A58A6924}"/>
              </a:ext>
            </a:extLst>
          </p:cNvPr>
          <p:cNvSpPr/>
          <p:nvPr/>
        </p:nvSpPr>
        <p:spPr>
          <a:xfrm>
            <a:off x="4784899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E2EAF9"/>
          </a:solidFill>
          <a:ln>
            <a:solidFill>
              <a:srgbClr val="E2EAF9"/>
            </a:solidFill>
          </a:ln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F5DB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Document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sourcing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5652159-11B8-1076-FC4A-1B82C55EBA17}"/>
              </a:ext>
            </a:extLst>
          </p:cNvPr>
          <p:cNvSpPr/>
          <p:nvPr/>
        </p:nvSpPr>
        <p:spPr>
          <a:xfrm>
            <a:off x="5959291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F4EBDD"/>
          </a:solidFill>
          <a:ln>
            <a:solidFill>
              <a:srgbClr val="F4EBDD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9A632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Screening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4E1E781-5C73-1E66-DCA9-B33FAEB3726C}"/>
              </a:ext>
            </a:extLst>
          </p:cNvPr>
          <p:cNvSpPr/>
          <p:nvPr/>
        </p:nvSpPr>
        <p:spPr>
          <a:xfrm>
            <a:off x="7133683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F4EBDD"/>
          </a:solidFill>
          <a:ln w="12700">
            <a:solidFill>
              <a:schemeClr val="accent4">
                <a:lumMod val="50000"/>
              </a:schemeClr>
            </a:solidFill>
            <a:prstDash val="dash"/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A06A24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EDD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assessment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305694CA-C3C5-9FFC-7C03-39FEF6E0D05C}"/>
              </a:ext>
            </a:extLst>
          </p:cNvPr>
          <p:cNvSpPr/>
          <p:nvPr/>
        </p:nvSpPr>
        <p:spPr>
          <a:xfrm>
            <a:off x="8308075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EADDF7"/>
          </a:solidFill>
          <a:ln>
            <a:solidFill>
              <a:srgbClr val="EADDF7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C3EB5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Quality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Assurance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D1FDDCC9-B9FF-8E3C-9CCC-0F5FF2C89E91}"/>
              </a:ext>
            </a:extLst>
          </p:cNvPr>
          <p:cNvSpPr/>
          <p:nvPr/>
        </p:nvSpPr>
        <p:spPr>
          <a:xfrm>
            <a:off x="10656856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E3F4DF"/>
          </a:solidFill>
          <a:ln>
            <a:solidFill>
              <a:srgbClr val="E3F4DF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88B42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Cleared-to-trade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86" name="Text 17">
            <a:extLst>
              <a:ext uri="{FF2B5EF4-FFF2-40B4-BE49-F238E27FC236}">
                <a16:creationId xmlns:a16="http://schemas.microsoft.com/office/drawing/2014/main" id="{4CC7A1D2-04A2-4945-ACCB-D2F213BB7B9E}"/>
              </a:ext>
            </a:extLst>
          </p:cNvPr>
          <p:cNvSpPr/>
          <p:nvPr/>
        </p:nvSpPr>
        <p:spPr>
          <a:xfrm>
            <a:off x="9482467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EADDF7">
              <a:alpha val="50000"/>
            </a:srgbClr>
          </a:solidFill>
          <a:ln>
            <a:solidFill>
              <a:srgbClr val="EADDF7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C3EB5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Conflicts Check 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F5E891B0-E8EC-EF7F-C527-5B947752D921}"/>
              </a:ext>
            </a:extLst>
          </p:cNvPr>
          <p:cNvSpPr/>
          <p:nvPr/>
        </p:nvSpPr>
        <p:spPr>
          <a:xfrm>
            <a:off x="7378280" y="1382828"/>
            <a:ext cx="347472" cy="1280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Legend: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F64741EF-210C-E1C7-8EFA-8EB042E70E52}"/>
              </a:ext>
            </a:extLst>
          </p:cNvPr>
          <p:cNvSpPr/>
          <p:nvPr/>
        </p:nvSpPr>
        <p:spPr>
          <a:xfrm>
            <a:off x="7798904" y="1446836"/>
            <a:ext cx="237744" cy="1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F8010BCC-E067-5CC9-F567-09A2667576A4}"/>
              </a:ext>
            </a:extLst>
          </p:cNvPr>
          <p:cNvSpPr/>
          <p:nvPr/>
        </p:nvSpPr>
        <p:spPr>
          <a:xfrm>
            <a:off x="8073224" y="1382828"/>
            <a:ext cx="530352" cy="1280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Required flow</a:t>
            </a:r>
            <a:endParaRPr kumimoji="0" lang="en-US" sz="47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34FD29D8-2544-E8CF-8D1E-7B18C03C64A8}"/>
              </a:ext>
            </a:extLst>
          </p:cNvPr>
          <p:cNvSpPr/>
          <p:nvPr/>
        </p:nvSpPr>
        <p:spPr>
          <a:xfrm>
            <a:off x="8612720" y="1446836"/>
            <a:ext cx="228600" cy="1"/>
          </a:xfrm>
          <a:prstGeom prst="line">
            <a:avLst/>
          </a:prstGeom>
          <a:noFill/>
          <a:ln w="10160">
            <a:solidFill>
              <a:srgbClr val="159447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E90D86DD-53D2-119B-AE17-1CF01ABFC4A2}"/>
              </a:ext>
            </a:extLst>
          </p:cNvPr>
          <p:cNvSpPr/>
          <p:nvPr/>
        </p:nvSpPr>
        <p:spPr>
          <a:xfrm>
            <a:off x="8877896" y="1382828"/>
            <a:ext cx="658368" cy="1280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Optional / If required</a:t>
            </a:r>
            <a:endParaRPr kumimoji="0" lang="en-US" sz="44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320F946A-9FFC-ABA5-2F67-83B180DA629C}"/>
              </a:ext>
            </a:extLst>
          </p:cNvPr>
          <p:cNvSpPr/>
          <p:nvPr/>
        </p:nvSpPr>
        <p:spPr>
          <a:xfrm>
            <a:off x="9554552" y="1446836"/>
            <a:ext cx="246888" cy="1"/>
          </a:xfrm>
          <a:prstGeom prst="line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836621D3-D31D-F9F9-C5BC-B4743A07296F}"/>
              </a:ext>
            </a:extLst>
          </p:cNvPr>
          <p:cNvSpPr/>
          <p:nvPr/>
        </p:nvSpPr>
        <p:spPr>
          <a:xfrm>
            <a:off x="9828872" y="1382828"/>
            <a:ext cx="502920" cy="1280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Parallel flow</a:t>
            </a: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C453AE78-ADF7-F231-DA59-8B3E3360BFFC}"/>
              </a:ext>
            </a:extLst>
          </p:cNvPr>
          <p:cNvSpPr/>
          <p:nvPr/>
        </p:nvSpPr>
        <p:spPr>
          <a:xfrm>
            <a:off x="10359224" y="1446836"/>
            <a:ext cx="246888" cy="1"/>
          </a:xfrm>
          <a:prstGeom prst="line">
            <a:avLst/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078723DB-C216-8C7D-091B-E25D1F530966}"/>
              </a:ext>
            </a:extLst>
          </p:cNvPr>
          <p:cNvSpPr/>
          <p:nvPr/>
        </p:nvSpPr>
        <p:spPr>
          <a:xfrm>
            <a:off x="10633544" y="1382828"/>
            <a:ext cx="502920" cy="1280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Rework / Loop</a:t>
            </a: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99E0E275-DC4C-4292-FE33-B87FEC464EA2}"/>
              </a:ext>
            </a:extLst>
          </p:cNvPr>
          <p:cNvSpPr/>
          <p:nvPr/>
        </p:nvSpPr>
        <p:spPr>
          <a:xfrm>
            <a:off x="11264480" y="1401116"/>
            <a:ext cx="128016" cy="128016"/>
          </a:xfrm>
          <a:prstGeom prst="diamond">
            <a:avLst/>
          </a:prstGeom>
          <a:solidFill>
            <a:srgbClr val="FFF2CC"/>
          </a:solidFill>
          <a:ln w="8890">
            <a:solidFill>
              <a:srgbClr val="F39C12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107F082B-0007-5D58-57B0-A9CA68132225}"/>
              </a:ext>
            </a:extLst>
          </p:cNvPr>
          <p:cNvSpPr/>
          <p:nvPr/>
        </p:nvSpPr>
        <p:spPr>
          <a:xfrm>
            <a:off x="11419928" y="1378256"/>
            <a:ext cx="475488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Decision</a:t>
            </a:r>
            <a:endParaRPr kumimoji="0" lang="en-US" sz="44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gate</a:t>
            </a:r>
            <a:endParaRPr kumimoji="0" lang="en-US" sz="44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CB0400D9-A3E1-28EA-27AF-74C7EE627C2D}"/>
              </a:ext>
            </a:extLst>
          </p:cNvPr>
          <p:cNvSpPr/>
          <p:nvPr/>
        </p:nvSpPr>
        <p:spPr>
          <a:xfrm>
            <a:off x="381001" y="1904784"/>
            <a:ext cx="755586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CLIENT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09E596AC-C87A-79AE-48AC-2927E0A29E66}"/>
              </a:ext>
            </a:extLst>
          </p:cNvPr>
          <p:cNvSpPr/>
          <p:nvPr/>
        </p:nvSpPr>
        <p:spPr>
          <a:xfrm>
            <a:off x="1459930" y="1868208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Provide initial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relationship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information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6E055BE6-47C9-31A9-3FBD-195A0C3AEB08}"/>
              </a:ext>
            </a:extLst>
          </p:cNvPr>
          <p:cNvSpPr/>
          <p:nvPr/>
        </p:nvSpPr>
        <p:spPr>
          <a:xfrm>
            <a:off x="4983106" y="1868208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Provide requested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documents &amp;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information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E0B1BD78-377C-3579-8A72-343F1B3EFD26}"/>
              </a:ext>
            </a:extLst>
          </p:cNvPr>
          <p:cNvSpPr/>
          <p:nvPr/>
        </p:nvSpPr>
        <p:spPr>
          <a:xfrm>
            <a:off x="6157498" y="1868208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Respond to screening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clarifications /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additional info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146ADB14-A76E-46BC-6BCC-9BB09E5EB7DC}"/>
              </a:ext>
            </a:extLst>
          </p:cNvPr>
          <p:cNvSpPr/>
          <p:nvPr/>
        </p:nvSpPr>
        <p:spPr>
          <a:xfrm>
            <a:off x="7512188" y="1868208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Provide EDD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information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(e.g. </a:t>
            </a:r>
            <a:r>
              <a:rPr kumimoji="0" lang="en-US" sz="52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SoF</a:t>
            </a: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/ SoW)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55CDE7EA-1DE2-6094-464B-C4E54FE4B885}"/>
              </a:ext>
            </a:extLst>
          </p:cNvPr>
          <p:cNvSpPr/>
          <p:nvPr/>
        </p:nvSpPr>
        <p:spPr>
          <a:xfrm>
            <a:off x="8523985" y="1868208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Respond to QA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gap requests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8E701C90-6F1D-D757-9C1F-D30D728870C5}"/>
              </a:ext>
            </a:extLst>
          </p:cNvPr>
          <p:cNvSpPr/>
          <p:nvPr/>
        </p:nvSpPr>
        <p:spPr>
          <a:xfrm>
            <a:off x="11053270" y="1868208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Receive outcome &amp;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next steps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CA6CAC1F-83D1-B33D-6B60-2D1EE603FCB2}"/>
              </a:ext>
            </a:extLst>
          </p:cNvPr>
          <p:cNvSpPr/>
          <p:nvPr/>
        </p:nvSpPr>
        <p:spPr>
          <a:xfrm>
            <a:off x="380998" y="1534422"/>
            <a:ext cx="795354" cy="234196"/>
          </a:xfrm>
          <a:prstGeom prst="roundRect">
            <a:avLst>
              <a:gd name="adj" fmla="val 13889"/>
            </a:avLst>
          </a:prstGeom>
          <a:solidFill>
            <a:srgbClr val="08204A"/>
          </a:solidFill>
          <a:ln w="8255">
            <a:solidFill>
              <a:srgbClr val="08204A"/>
            </a:solidFill>
            <a:prstDash val="solid"/>
          </a:ln>
        </p:spPr>
        <p:txBody>
          <a:bodyPr wrap="square" lIns="381" tIns="381" rIns="381" bIns="38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L1 PROCESSES</a:t>
            </a:r>
            <a:endParaRPr kumimoji="0" lang="en-US" sz="73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1" name="Shape 42">
            <a:extLst>
              <a:ext uri="{FF2B5EF4-FFF2-40B4-BE49-F238E27FC236}">
                <a16:creationId xmlns:a16="http://schemas.microsoft.com/office/drawing/2014/main" id="{F7C28B8A-1020-D1F3-0F64-E8DF66244550}"/>
              </a:ext>
            </a:extLst>
          </p:cNvPr>
          <p:cNvSpPr/>
          <p:nvPr/>
        </p:nvSpPr>
        <p:spPr>
          <a:xfrm>
            <a:off x="380998" y="2235069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2" name="Shape 43">
            <a:extLst>
              <a:ext uri="{FF2B5EF4-FFF2-40B4-BE49-F238E27FC236}">
                <a16:creationId xmlns:a16="http://schemas.microsoft.com/office/drawing/2014/main" id="{BED79B06-59C1-3D62-8B0F-750FFBFE6D14}"/>
              </a:ext>
            </a:extLst>
          </p:cNvPr>
          <p:cNvSpPr/>
          <p:nvPr/>
        </p:nvSpPr>
        <p:spPr>
          <a:xfrm>
            <a:off x="380998" y="2700868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Shape 44">
            <a:extLst>
              <a:ext uri="{FF2B5EF4-FFF2-40B4-BE49-F238E27FC236}">
                <a16:creationId xmlns:a16="http://schemas.microsoft.com/office/drawing/2014/main" id="{347AFF86-7437-EE97-AEC2-0986664CA7EE}"/>
              </a:ext>
            </a:extLst>
          </p:cNvPr>
          <p:cNvSpPr/>
          <p:nvPr/>
        </p:nvSpPr>
        <p:spPr>
          <a:xfrm>
            <a:off x="380998" y="3631561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4" name="Shape 45">
            <a:extLst>
              <a:ext uri="{FF2B5EF4-FFF2-40B4-BE49-F238E27FC236}">
                <a16:creationId xmlns:a16="http://schemas.microsoft.com/office/drawing/2014/main" id="{C0B10C53-4FCC-2DC6-BB2D-BA756AEFC051}"/>
              </a:ext>
            </a:extLst>
          </p:cNvPr>
          <p:cNvSpPr/>
          <p:nvPr/>
        </p:nvSpPr>
        <p:spPr>
          <a:xfrm>
            <a:off x="380998" y="4571144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5" name="Shape 46">
            <a:extLst>
              <a:ext uri="{FF2B5EF4-FFF2-40B4-BE49-F238E27FC236}">
                <a16:creationId xmlns:a16="http://schemas.microsoft.com/office/drawing/2014/main" id="{277B4429-9093-CE5D-0FEC-9A8347BB1F70}"/>
              </a:ext>
            </a:extLst>
          </p:cNvPr>
          <p:cNvSpPr/>
          <p:nvPr/>
        </p:nvSpPr>
        <p:spPr>
          <a:xfrm>
            <a:off x="380998" y="5019174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6" name="Shape 47">
            <a:extLst>
              <a:ext uri="{FF2B5EF4-FFF2-40B4-BE49-F238E27FC236}">
                <a16:creationId xmlns:a16="http://schemas.microsoft.com/office/drawing/2014/main" id="{BD0FE58B-2A1C-81D3-92C5-F302D1A8EA31}"/>
              </a:ext>
            </a:extLst>
          </p:cNvPr>
          <p:cNvSpPr/>
          <p:nvPr/>
        </p:nvSpPr>
        <p:spPr>
          <a:xfrm>
            <a:off x="380998" y="5430654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1" name="Shape 52">
            <a:extLst>
              <a:ext uri="{FF2B5EF4-FFF2-40B4-BE49-F238E27FC236}">
                <a16:creationId xmlns:a16="http://schemas.microsoft.com/office/drawing/2014/main" id="{5A43CB5C-C72E-4855-1DCA-6C48501BAA6C}"/>
              </a:ext>
            </a:extLst>
          </p:cNvPr>
          <p:cNvSpPr/>
          <p:nvPr/>
        </p:nvSpPr>
        <p:spPr>
          <a:xfrm>
            <a:off x="2424919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Shape 54">
            <a:extLst>
              <a:ext uri="{FF2B5EF4-FFF2-40B4-BE49-F238E27FC236}">
                <a16:creationId xmlns:a16="http://schemas.microsoft.com/office/drawing/2014/main" id="{81D0C3B2-3A34-3479-B2CA-F3467A835BAD}"/>
              </a:ext>
            </a:extLst>
          </p:cNvPr>
          <p:cNvSpPr/>
          <p:nvPr/>
        </p:nvSpPr>
        <p:spPr>
          <a:xfrm>
            <a:off x="3599370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Shape 55">
            <a:extLst>
              <a:ext uri="{FF2B5EF4-FFF2-40B4-BE49-F238E27FC236}">
                <a16:creationId xmlns:a16="http://schemas.microsoft.com/office/drawing/2014/main" id="{78F0A7C0-6CDA-FE9E-9E5E-B7E86BF13599}"/>
              </a:ext>
            </a:extLst>
          </p:cNvPr>
          <p:cNvSpPr/>
          <p:nvPr/>
        </p:nvSpPr>
        <p:spPr>
          <a:xfrm>
            <a:off x="4773821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5" name="Shape 56">
            <a:extLst>
              <a:ext uri="{FF2B5EF4-FFF2-40B4-BE49-F238E27FC236}">
                <a16:creationId xmlns:a16="http://schemas.microsoft.com/office/drawing/2014/main" id="{6B7AF7D0-03B2-5065-B426-4A3DB0927086}"/>
              </a:ext>
            </a:extLst>
          </p:cNvPr>
          <p:cNvSpPr/>
          <p:nvPr/>
        </p:nvSpPr>
        <p:spPr>
          <a:xfrm>
            <a:off x="5948272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Shape 57">
            <a:extLst>
              <a:ext uri="{FF2B5EF4-FFF2-40B4-BE49-F238E27FC236}">
                <a16:creationId xmlns:a16="http://schemas.microsoft.com/office/drawing/2014/main" id="{1198B831-1C29-BA3E-862A-F692A2653681}"/>
              </a:ext>
            </a:extLst>
          </p:cNvPr>
          <p:cNvSpPr/>
          <p:nvPr/>
        </p:nvSpPr>
        <p:spPr>
          <a:xfrm>
            <a:off x="7122723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7" name="Shape 58">
            <a:extLst>
              <a:ext uri="{FF2B5EF4-FFF2-40B4-BE49-F238E27FC236}">
                <a16:creationId xmlns:a16="http://schemas.microsoft.com/office/drawing/2014/main" id="{DB3A6D76-65B0-C1A9-2E47-8FEDC2219115}"/>
              </a:ext>
            </a:extLst>
          </p:cNvPr>
          <p:cNvSpPr/>
          <p:nvPr/>
        </p:nvSpPr>
        <p:spPr>
          <a:xfrm>
            <a:off x="8297174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8" name="Shape 59">
            <a:extLst>
              <a:ext uri="{FF2B5EF4-FFF2-40B4-BE49-F238E27FC236}">
                <a16:creationId xmlns:a16="http://schemas.microsoft.com/office/drawing/2014/main" id="{E40DB42E-16A5-D838-CB06-EAD68AAABE10}"/>
              </a:ext>
            </a:extLst>
          </p:cNvPr>
          <p:cNvSpPr/>
          <p:nvPr/>
        </p:nvSpPr>
        <p:spPr>
          <a:xfrm>
            <a:off x="9471625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9" name="Shape 60">
            <a:extLst>
              <a:ext uri="{FF2B5EF4-FFF2-40B4-BE49-F238E27FC236}">
                <a16:creationId xmlns:a16="http://schemas.microsoft.com/office/drawing/2014/main" id="{9E7D6E52-867B-5F05-AAB8-DEF414B90221}"/>
              </a:ext>
            </a:extLst>
          </p:cNvPr>
          <p:cNvSpPr/>
          <p:nvPr/>
        </p:nvSpPr>
        <p:spPr>
          <a:xfrm>
            <a:off x="10646076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0" name="Shape 61">
            <a:extLst>
              <a:ext uri="{FF2B5EF4-FFF2-40B4-BE49-F238E27FC236}">
                <a16:creationId xmlns:a16="http://schemas.microsoft.com/office/drawing/2014/main" id="{7A2B3642-49A5-FBFC-6861-E74C36402D87}"/>
              </a:ext>
            </a:extLst>
          </p:cNvPr>
          <p:cNvSpPr/>
          <p:nvPr/>
        </p:nvSpPr>
        <p:spPr>
          <a:xfrm>
            <a:off x="11820524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1" name="Text 62">
            <a:extLst>
              <a:ext uri="{FF2B5EF4-FFF2-40B4-BE49-F238E27FC236}">
                <a16:creationId xmlns:a16="http://schemas.microsoft.com/office/drawing/2014/main" id="{CDC8685F-7967-2709-0816-DF9D283CEFB5}"/>
              </a:ext>
            </a:extLst>
          </p:cNvPr>
          <p:cNvSpPr/>
          <p:nvPr/>
        </p:nvSpPr>
        <p:spPr>
          <a:xfrm>
            <a:off x="381000" y="2298571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SALES / RM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(Front Office)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2" name="Text 63">
            <a:extLst>
              <a:ext uri="{FF2B5EF4-FFF2-40B4-BE49-F238E27FC236}">
                <a16:creationId xmlns:a16="http://schemas.microsoft.com/office/drawing/2014/main" id="{19DA7325-C8DA-E6AE-BFC0-DD3E578AB436}"/>
              </a:ext>
            </a:extLst>
          </p:cNvPr>
          <p:cNvSpPr/>
          <p:nvPr/>
        </p:nvSpPr>
        <p:spPr>
          <a:xfrm>
            <a:off x="381000" y="2938812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highlight>
                  <a:srgbClr val="FFFF00"/>
                </a:highlight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CLIENT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highlight>
                <a:srgbClr val="FFFF00"/>
              </a:highlight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highlight>
                  <a:srgbClr val="FFFF00"/>
                </a:highlight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FULFILMENT /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highlight>
                <a:srgbClr val="FFFF00"/>
              </a:highlight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highlight>
                  <a:srgbClr val="FFFF00"/>
                </a:highlight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KYC OPS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highlight>
                <a:srgbClr val="FFFF00"/>
              </a:highlight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3" name="Text 64">
            <a:extLst>
              <a:ext uri="{FF2B5EF4-FFF2-40B4-BE49-F238E27FC236}">
                <a16:creationId xmlns:a16="http://schemas.microsoft.com/office/drawing/2014/main" id="{EA3D4515-1F99-DD00-4274-230F53200328}"/>
              </a:ext>
            </a:extLst>
          </p:cNvPr>
          <p:cNvSpPr/>
          <p:nvPr/>
        </p:nvSpPr>
        <p:spPr>
          <a:xfrm>
            <a:off x="381000" y="3701763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FINANCIAL CRIME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RISK / COMPLIANCE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4" name="Text 65">
            <a:extLst>
              <a:ext uri="{FF2B5EF4-FFF2-40B4-BE49-F238E27FC236}">
                <a16:creationId xmlns:a16="http://schemas.microsoft.com/office/drawing/2014/main" id="{B417C243-780E-21A4-E071-F88ABA87B58D}"/>
              </a:ext>
            </a:extLst>
          </p:cNvPr>
          <p:cNvSpPr/>
          <p:nvPr/>
        </p:nvSpPr>
        <p:spPr>
          <a:xfrm>
            <a:off x="381000" y="4662558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RMG CONTROL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ROOM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7" name="Text 68">
            <a:extLst>
              <a:ext uri="{FF2B5EF4-FFF2-40B4-BE49-F238E27FC236}">
                <a16:creationId xmlns:a16="http://schemas.microsoft.com/office/drawing/2014/main" id="{82560EF5-D990-B7D6-8F5E-03F2D93672B0}"/>
              </a:ext>
            </a:extLst>
          </p:cNvPr>
          <p:cNvSpPr/>
          <p:nvPr/>
        </p:nvSpPr>
        <p:spPr>
          <a:xfrm>
            <a:off x="381000" y="5955724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APPLICATIONS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&amp; SYSTEMS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83" name="Text 70">
            <a:extLst>
              <a:ext uri="{FF2B5EF4-FFF2-40B4-BE49-F238E27FC236}">
                <a16:creationId xmlns:a16="http://schemas.microsoft.com/office/drawing/2014/main" id="{A40C75EF-E5B4-EBD8-D73B-73293FDA41DC}"/>
              </a:ext>
            </a:extLst>
          </p:cNvPr>
          <p:cNvSpPr/>
          <p:nvPr/>
        </p:nvSpPr>
        <p:spPr>
          <a:xfrm>
            <a:off x="1261723" y="2298571"/>
            <a:ext cx="1152000" cy="341370"/>
          </a:xfrm>
          <a:prstGeom prst="roundRect">
            <a:avLst>
              <a:gd name="adj" fmla="val 17741"/>
            </a:avLst>
          </a:prstGeom>
          <a:solidFill>
            <a:srgbClr val="F0F2F3"/>
          </a:solidFill>
          <a:ln w="8255">
            <a:solidFill>
              <a:schemeClr val="tx1">
                <a:lumMod val="75000"/>
              </a:schemeClr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M0.1 Determine sales location &amp; reporting / booking entity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M0.2 Confirm &amp; validate approved product / service scope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84" name="Text 71">
            <a:extLst>
              <a:ext uri="{FF2B5EF4-FFF2-40B4-BE49-F238E27FC236}">
                <a16:creationId xmlns:a16="http://schemas.microsoft.com/office/drawing/2014/main" id="{976C2560-7284-F07C-B63F-94EF8870A44B}"/>
              </a:ext>
            </a:extLst>
          </p:cNvPr>
          <p:cNvSpPr/>
          <p:nvPr/>
        </p:nvSpPr>
        <p:spPr>
          <a:xfrm>
            <a:off x="2436115" y="2755890"/>
            <a:ext cx="1152000" cy="640165"/>
          </a:xfrm>
          <a:prstGeom prst="roundRect">
            <a:avLst>
              <a:gd name="adj" fmla="val 7413"/>
            </a:avLst>
          </a:prstGeom>
          <a:solidFill>
            <a:srgbClr val="DDECEF"/>
          </a:solidFill>
          <a:ln w="8255">
            <a:solidFill>
              <a:srgbClr val="A9CDBB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M1.2 Receive onboarding request info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M1.3 Create onboarding case &amp; working repository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M1.4 Confirm client legal name &amp; location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M1.5 Classify client / legal entity type &amp; triage case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89" name="Text 74">
            <a:extLst>
              <a:ext uri="{FF2B5EF4-FFF2-40B4-BE49-F238E27FC236}">
                <a16:creationId xmlns:a16="http://schemas.microsoft.com/office/drawing/2014/main" id="{F28C299D-22CD-6C08-608B-562B670A73D7}"/>
              </a:ext>
            </a:extLst>
          </p:cNvPr>
          <p:cNvSpPr/>
          <p:nvPr/>
        </p:nvSpPr>
        <p:spPr>
          <a:xfrm>
            <a:off x="10656856" y="2298571"/>
            <a:ext cx="1152000" cy="86733"/>
          </a:xfrm>
          <a:prstGeom prst="roundRect">
            <a:avLst>
              <a:gd name="adj" fmla="val 18519"/>
            </a:avLst>
          </a:prstGeom>
          <a:solidFill>
            <a:srgbClr val="FFF7E5"/>
          </a:solidFill>
          <a:ln w="8255">
            <a:solidFill>
              <a:srgbClr val="EACB8A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M8.5  Communication outcome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1" name="Text 76">
            <a:extLst>
              <a:ext uri="{FF2B5EF4-FFF2-40B4-BE49-F238E27FC236}">
                <a16:creationId xmlns:a16="http://schemas.microsoft.com/office/drawing/2014/main" id="{B4E98309-8B5B-A86F-AD7D-8561BC337156}"/>
              </a:ext>
            </a:extLst>
          </p:cNvPr>
          <p:cNvSpPr/>
          <p:nvPr/>
        </p:nvSpPr>
        <p:spPr>
          <a:xfrm>
            <a:off x="3610507" y="3495964"/>
            <a:ext cx="1152000" cy="88236"/>
          </a:xfrm>
          <a:prstGeom prst="roundRect">
            <a:avLst>
              <a:gd name="adj" fmla="val 20833"/>
            </a:avLst>
          </a:prstGeom>
          <a:solidFill>
            <a:srgbClr val="DDECEF"/>
          </a:solidFill>
          <a:ln w="8255">
            <a:solidFill>
              <a:srgbClr val="A9CDBB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M2.5  Issue client requirements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2" name="Text 77">
            <a:extLst>
              <a:ext uri="{FF2B5EF4-FFF2-40B4-BE49-F238E27FC236}">
                <a16:creationId xmlns:a16="http://schemas.microsoft.com/office/drawing/2014/main" id="{6B71B432-6BA2-2035-36FA-EADA8FBAE321}"/>
              </a:ext>
            </a:extLst>
          </p:cNvPr>
          <p:cNvSpPr/>
          <p:nvPr/>
        </p:nvSpPr>
        <p:spPr>
          <a:xfrm>
            <a:off x="4784899" y="2798459"/>
            <a:ext cx="1152000" cy="555028"/>
          </a:xfrm>
          <a:prstGeom prst="roundRect">
            <a:avLst>
              <a:gd name="adj" fmla="val 6173"/>
            </a:avLst>
          </a:prstGeom>
          <a:solidFill>
            <a:srgbClr val="EDF3FC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M3.1  Source from public &amp; commercial sources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M3.2  Identify residual gaps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M3.3  Request info from client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M3.4  Capture &amp; validate evidence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M3.5  Manage outstanding gaps &amp; sourcing audit trail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6" name="Text 81">
            <a:extLst>
              <a:ext uri="{FF2B5EF4-FFF2-40B4-BE49-F238E27FC236}">
                <a16:creationId xmlns:a16="http://schemas.microsoft.com/office/drawing/2014/main" id="{9F19B4BB-A0C9-D73A-CC87-8F7E366160E3}"/>
              </a:ext>
            </a:extLst>
          </p:cNvPr>
          <p:cNvSpPr/>
          <p:nvPr/>
        </p:nvSpPr>
        <p:spPr>
          <a:xfrm>
            <a:off x="5959291" y="2838047"/>
            <a:ext cx="1152000" cy="475851"/>
          </a:xfrm>
          <a:prstGeom prst="roundRect">
            <a:avLst>
              <a:gd name="adj" fmla="val 5319"/>
            </a:avLst>
          </a:prstGeom>
          <a:solidFill>
            <a:srgbClr val="FFF1E8"/>
          </a:solidFill>
          <a:ln w="8255">
            <a:solidFill>
              <a:srgbClr val="F2B58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M4.1  Initial risk pre-screening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M4.2  Early adverse-media screen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M4.3  Establish screening pop.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M4.4  Execute comprehensive screening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M4.5  Adjudicate screening hits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6" name="Text 67">
            <a:extLst>
              <a:ext uri="{FF2B5EF4-FFF2-40B4-BE49-F238E27FC236}">
                <a16:creationId xmlns:a16="http://schemas.microsoft.com/office/drawing/2014/main" id="{EED1A9AC-5D47-206B-9985-FCD27D57F737}"/>
              </a:ext>
            </a:extLst>
          </p:cNvPr>
          <p:cNvSpPr/>
          <p:nvPr/>
        </p:nvSpPr>
        <p:spPr>
          <a:xfrm>
            <a:off x="381000" y="5023359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CGM LEGAL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0" name="Text 115">
            <a:extLst>
              <a:ext uri="{FF2B5EF4-FFF2-40B4-BE49-F238E27FC236}">
                <a16:creationId xmlns:a16="http://schemas.microsoft.com/office/drawing/2014/main" id="{B1EFD620-36B2-57DA-7E51-EE7911CB719D}"/>
              </a:ext>
            </a:extLst>
          </p:cNvPr>
          <p:cNvSpPr/>
          <p:nvPr/>
        </p:nvSpPr>
        <p:spPr>
          <a:xfrm>
            <a:off x="2436115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C1.1 Intake &amp;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err="1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initialise</a:t>
            </a: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legal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request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2" name="Text 117">
            <a:extLst>
              <a:ext uri="{FF2B5EF4-FFF2-40B4-BE49-F238E27FC236}">
                <a16:creationId xmlns:a16="http://schemas.microsoft.com/office/drawing/2014/main" id="{222319AA-91A4-E027-65BC-047575C91035}"/>
              </a:ext>
            </a:extLst>
          </p:cNvPr>
          <p:cNvSpPr/>
          <p:nvPr/>
        </p:nvSpPr>
        <p:spPr>
          <a:xfrm>
            <a:off x="3395209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C1.2 Determine required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agreements / forms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4" name="Text 119">
            <a:extLst>
              <a:ext uri="{FF2B5EF4-FFF2-40B4-BE49-F238E27FC236}">
                <a16:creationId xmlns:a16="http://schemas.microsoft.com/office/drawing/2014/main" id="{6ABFDD30-38F7-A65C-C7B1-B52AA3647CDB}"/>
              </a:ext>
            </a:extLst>
          </p:cNvPr>
          <p:cNvSpPr/>
          <p:nvPr/>
        </p:nvSpPr>
        <p:spPr>
          <a:xfrm>
            <a:off x="4354303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C1.3 Draft required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6" name="Text 121">
            <a:extLst>
              <a:ext uri="{FF2B5EF4-FFF2-40B4-BE49-F238E27FC236}">
                <a16:creationId xmlns:a16="http://schemas.microsoft.com/office/drawing/2014/main" id="{2F77CA6E-952F-36EE-D62F-40FAADFE2CE2}"/>
              </a:ext>
            </a:extLst>
          </p:cNvPr>
          <p:cNvSpPr/>
          <p:nvPr/>
        </p:nvSpPr>
        <p:spPr>
          <a:xfrm>
            <a:off x="5313397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C1.4 Incorporate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Credit input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(if required)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8" name="Text 123">
            <a:extLst>
              <a:ext uri="{FF2B5EF4-FFF2-40B4-BE49-F238E27FC236}">
                <a16:creationId xmlns:a16="http://schemas.microsoft.com/office/drawing/2014/main" id="{5E6C7DCE-5406-E1AD-B640-5862D48E356F}"/>
              </a:ext>
            </a:extLst>
          </p:cNvPr>
          <p:cNvSpPr/>
          <p:nvPr/>
        </p:nvSpPr>
        <p:spPr>
          <a:xfrm>
            <a:off x="6272491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C1.5 Negotiate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 terms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0" name="Text 125">
            <a:extLst>
              <a:ext uri="{FF2B5EF4-FFF2-40B4-BE49-F238E27FC236}">
                <a16:creationId xmlns:a16="http://schemas.microsoft.com/office/drawing/2014/main" id="{E1CC6688-FC46-19B4-15E8-0929A546DC5F}"/>
              </a:ext>
            </a:extLst>
          </p:cNvPr>
          <p:cNvSpPr/>
          <p:nvPr/>
        </p:nvSpPr>
        <p:spPr>
          <a:xfrm>
            <a:off x="7231585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C1.6 Obtain internal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review &amp; approvals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2" name="Text 127">
            <a:extLst>
              <a:ext uri="{FF2B5EF4-FFF2-40B4-BE49-F238E27FC236}">
                <a16:creationId xmlns:a16="http://schemas.microsoft.com/office/drawing/2014/main" id="{743A699D-D958-4F2F-4DF0-AE8167F556ED}"/>
              </a:ext>
            </a:extLst>
          </p:cNvPr>
          <p:cNvSpPr/>
          <p:nvPr/>
        </p:nvSpPr>
        <p:spPr>
          <a:xfrm>
            <a:off x="8190679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C1.7 Execute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4" name="Text 129">
            <a:extLst>
              <a:ext uri="{FF2B5EF4-FFF2-40B4-BE49-F238E27FC236}">
                <a16:creationId xmlns:a16="http://schemas.microsoft.com/office/drawing/2014/main" id="{8FD151CD-CCFB-1573-80D5-8DE4A554DEA2}"/>
              </a:ext>
            </a:extLst>
          </p:cNvPr>
          <p:cNvSpPr/>
          <p:nvPr/>
        </p:nvSpPr>
        <p:spPr>
          <a:xfrm>
            <a:off x="9149772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C1.8 Capture key terms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&amp; store executed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documents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7" name="Text 82">
            <a:extLst>
              <a:ext uri="{FF2B5EF4-FFF2-40B4-BE49-F238E27FC236}">
                <a16:creationId xmlns:a16="http://schemas.microsoft.com/office/drawing/2014/main" id="{D7B973FF-CEA3-C471-FC63-EC2A9A5FDF4F}"/>
              </a:ext>
            </a:extLst>
          </p:cNvPr>
          <p:cNvSpPr/>
          <p:nvPr/>
        </p:nvSpPr>
        <p:spPr>
          <a:xfrm>
            <a:off x="7133683" y="3685451"/>
            <a:ext cx="1152000" cy="785109"/>
          </a:xfrm>
          <a:prstGeom prst="roundRect">
            <a:avLst>
              <a:gd name="adj" fmla="val 4545"/>
            </a:avLst>
          </a:prstGeom>
          <a:solidFill>
            <a:srgbClr val="FFF1E8"/>
          </a:solidFill>
          <a:ln w="8255">
            <a:solidFill>
              <a:srgbClr val="F2B58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M5.1  Initiate &amp; assign EDD case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M5.2  Compile EDD evidence pack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M5.3  Assess evidencing risk factors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M5.4  Close intelligence &amp; gaps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M5.5  Consult risk specialists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M5.6  Determine EDD outcome &amp; conditions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M5.7  Obtain required approvals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M5.8  Record &amp; hand over EDD outcome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8" name="Text 83">
            <a:extLst>
              <a:ext uri="{FF2B5EF4-FFF2-40B4-BE49-F238E27FC236}">
                <a16:creationId xmlns:a16="http://schemas.microsoft.com/office/drawing/2014/main" id="{98531FA0-E6BB-C907-31DF-95BD874805D4}"/>
              </a:ext>
            </a:extLst>
          </p:cNvPr>
          <p:cNvSpPr/>
          <p:nvPr/>
        </p:nvSpPr>
        <p:spPr>
          <a:xfrm>
            <a:off x="8308075" y="2715930"/>
            <a:ext cx="1152000" cy="879927"/>
          </a:xfrm>
          <a:prstGeom prst="roundRect">
            <a:avLst>
              <a:gd name="adj" fmla="val 6667"/>
            </a:avLst>
          </a:prstGeom>
          <a:solidFill>
            <a:srgbClr val="F2ECFA"/>
          </a:solidFill>
          <a:ln w="8255">
            <a:solidFill>
              <a:srgbClr val="C6B3D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QA TEAM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M6.1  Confirm applicable requirements / CIPs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M6.2  Check completeness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M6.3  Validate evidence sources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M6.4  Assess evidence sufficiency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M6.5  Cross-check screening &amp; EDD conditions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M6.6  Identify &amp; issue gaps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M6.7  Re-review remediated items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M6.8  Provide QA sign-off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04" name="Text 89">
            <a:extLst>
              <a:ext uri="{FF2B5EF4-FFF2-40B4-BE49-F238E27FC236}">
                <a16:creationId xmlns:a16="http://schemas.microsoft.com/office/drawing/2014/main" id="{AD79DF93-B213-3475-79A5-5FD188A31657}"/>
              </a:ext>
            </a:extLst>
          </p:cNvPr>
          <p:cNvSpPr/>
          <p:nvPr/>
        </p:nvSpPr>
        <p:spPr>
          <a:xfrm>
            <a:off x="6509219" y="4118555"/>
            <a:ext cx="685993" cy="265176"/>
          </a:xfrm>
          <a:prstGeom prst="roundRect">
            <a:avLst>
              <a:gd name="adj" fmla="val 17241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Risk input; identify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EDD indicators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1" name="Text 96">
            <a:extLst>
              <a:ext uri="{FF2B5EF4-FFF2-40B4-BE49-F238E27FC236}">
                <a16:creationId xmlns:a16="http://schemas.microsoft.com/office/drawing/2014/main" id="{0C21EF99-00B0-56A2-DC01-7008E9B28208}"/>
              </a:ext>
            </a:extLst>
          </p:cNvPr>
          <p:cNvSpPr/>
          <p:nvPr/>
        </p:nvSpPr>
        <p:spPr>
          <a:xfrm>
            <a:off x="2657698" y="4644270"/>
            <a:ext cx="695934" cy="365760"/>
          </a:xfrm>
          <a:prstGeom prst="roundRect">
            <a:avLst>
              <a:gd name="adj" fmla="val 12500"/>
            </a:avLst>
          </a:prstGeom>
          <a:solidFill>
            <a:srgbClr val="F2ECFA"/>
          </a:solidFill>
          <a:ln w="8255">
            <a:solidFill>
              <a:srgbClr val="C6B3DE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Trigger conflict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check (from M1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information)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2" name="Text 97">
            <a:extLst>
              <a:ext uri="{FF2B5EF4-FFF2-40B4-BE49-F238E27FC236}">
                <a16:creationId xmlns:a16="http://schemas.microsoft.com/office/drawing/2014/main" id="{7833B979-AD9A-9403-F5F4-0B0FE17DCF69}"/>
              </a:ext>
            </a:extLst>
          </p:cNvPr>
          <p:cNvSpPr/>
          <p:nvPr/>
        </p:nvSpPr>
        <p:spPr>
          <a:xfrm>
            <a:off x="9482467" y="4616838"/>
            <a:ext cx="1152000" cy="393192"/>
          </a:xfrm>
          <a:prstGeom prst="roundRect">
            <a:avLst>
              <a:gd name="adj" fmla="val 11628"/>
            </a:avLst>
          </a:prstGeom>
          <a:solidFill>
            <a:srgbClr val="F2ECFA"/>
          </a:solidFill>
          <a:ln w="8255">
            <a:solidFill>
              <a:srgbClr val="C6B3DE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M7.1  Initiate conflicts check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M7.2  Perform conflicts / NDA search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M7.3  Investigate &amp; resolve conflicts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M7.4  Record conflict clearance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6" name="Text 131">
            <a:extLst>
              <a:ext uri="{FF2B5EF4-FFF2-40B4-BE49-F238E27FC236}">
                <a16:creationId xmlns:a16="http://schemas.microsoft.com/office/drawing/2014/main" id="{895CEC7B-932F-23A7-7513-BDBA4DA7F625}"/>
              </a:ext>
            </a:extLst>
          </p:cNvPr>
          <p:cNvSpPr/>
          <p:nvPr/>
        </p:nvSpPr>
        <p:spPr>
          <a:xfrm>
            <a:off x="1395074" y="5974012"/>
            <a:ext cx="775470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Salesforce /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RM system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7" name="Text 132">
            <a:extLst>
              <a:ext uri="{FF2B5EF4-FFF2-40B4-BE49-F238E27FC236}">
                <a16:creationId xmlns:a16="http://schemas.microsoft.com/office/drawing/2014/main" id="{DD92D24D-2C3A-3936-9D3B-1D061E99DC10}"/>
              </a:ext>
            </a:extLst>
          </p:cNvPr>
          <p:cNvSpPr/>
          <p:nvPr/>
        </p:nvSpPr>
        <p:spPr>
          <a:xfrm>
            <a:off x="2472921" y="5974012"/>
            <a:ext cx="904715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Salesforce /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Email intake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(case creation)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8" name="Text 133">
            <a:extLst>
              <a:ext uri="{FF2B5EF4-FFF2-40B4-BE49-F238E27FC236}">
                <a16:creationId xmlns:a16="http://schemas.microsoft.com/office/drawing/2014/main" id="{388C9A4B-F8AF-D684-95B8-07EB15391D08}"/>
              </a:ext>
            </a:extLst>
          </p:cNvPr>
          <p:cNvSpPr/>
          <p:nvPr/>
        </p:nvSpPr>
        <p:spPr>
          <a:xfrm>
            <a:off x="3680013" y="5974012"/>
            <a:ext cx="805296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Fenergo Policy /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CIP library,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Risk rules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9" name="Text 134">
            <a:extLst>
              <a:ext uri="{FF2B5EF4-FFF2-40B4-BE49-F238E27FC236}">
                <a16:creationId xmlns:a16="http://schemas.microsoft.com/office/drawing/2014/main" id="{3579C7F0-6227-3F39-90E3-03794CBBC08A}"/>
              </a:ext>
            </a:extLst>
          </p:cNvPr>
          <p:cNvSpPr/>
          <p:nvPr/>
        </p:nvSpPr>
        <p:spPr>
          <a:xfrm>
            <a:off x="4787686" y="5974012"/>
            <a:ext cx="954424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Fenergo, SharePoint,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External registries,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Data providers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50" name="Text 135">
            <a:extLst>
              <a:ext uri="{FF2B5EF4-FFF2-40B4-BE49-F238E27FC236}">
                <a16:creationId xmlns:a16="http://schemas.microsoft.com/office/drawing/2014/main" id="{410557B3-4059-9C24-0AEE-A4662C6791B3}"/>
              </a:ext>
            </a:extLst>
          </p:cNvPr>
          <p:cNvSpPr/>
          <p:nvPr/>
        </p:nvSpPr>
        <p:spPr>
          <a:xfrm>
            <a:off x="6044487" y="5974012"/>
            <a:ext cx="805296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World-Check, RDC,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ESR tools,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Fenergo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51" name="Text 136">
            <a:extLst>
              <a:ext uri="{FF2B5EF4-FFF2-40B4-BE49-F238E27FC236}">
                <a16:creationId xmlns:a16="http://schemas.microsoft.com/office/drawing/2014/main" id="{CA690066-B2AA-B7D1-B3D4-7759556A9B0F}"/>
              </a:ext>
            </a:extLst>
          </p:cNvPr>
          <p:cNvSpPr/>
          <p:nvPr/>
        </p:nvSpPr>
        <p:spPr>
          <a:xfrm>
            <a:off x="7152160" y="5974012"/>
            <a:ext cx="1063786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Fenergo, </a:t>
            </a:r>
            <a:r>
              <a:rPr kumimoji="0" lang="en-US" sz="420" b="0" i="0" u="none" strike="noStrike" kern="1200" cap="none" spc="0" normalizeH="0" baseline="0" noProof="0" err="1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ActOne</a:t>
            </a: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/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Case Management,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SharePoint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52" name="Text 137">
            <a:extLst>
              <a:ext uri="{FF2B5EF4-FFF2-40B4-BE49-F238E27FC236}">
                <a16:creationId xmlns:a16="http://schemas.microsoft.com/office/drawing/2014/main" id="{1FD3F247-7EB9-33DE-8501-C00AA47ECB5B}"/>
              </a:ext>
            </a:extLst>
          </p:cNvPr>
          <p:cNvSpPr/>
          <p:nvPr/>
        </p:nvSpPr>
        <p:spPr>
          <a:xfrm>
            <a:off x="8518323" y="5974012"/>
            <a:ext cx="805296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Fenergo, SharePoint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Workflow / Tasks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53" name="Text 138">
            <a:extLst>
              <a:ext uri="{FF2B5EF4-FFF2-40B4-BE49-F238E27FC236}">
                <a16:creationId xmlns:a16="http://schemas.microsoft.com/office/drawing/2014/main" id="{39422313-D757-7306-D6D8-6785B074FF7C}"/>
              </a:ext>
            </a:extLst>
          </p:cNvPr>
          <p:cNvSpPr/>
          <p:nvPr/>
        </p:nvSpPr>
        <p:spPr>
          <a:xfrm>
            <a:off x="9625994" y="5974012"/>
            <a:ext cx="864947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Conflicts system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(TCC)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54" name="Text 139">
            <a:extLst>
              <a:ext uri="{FF2B5EF4-FFF2-40B4-BE49-F238E27FC236}">
                <a16:creationId xmlns:a16="http://schemas.microsoft.com/office/drawing/2014/main" id="{E4E35C5D-B949-B892-3AD4-3C6F95E21C01}"/>
              </a:ext>
            </a:extLst>
          </p:cNvPr>
          <p:cNvSpPr/>
          <p:nvPr/>
        </p:nvSpPr>
        <p:spPr>
          <a:xfrm>
            <a:off x="10698523" y="5974012"/>
            <a:ext cx="1063786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Fenergo, FROST,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Downstream trading /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risk systems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5" name="Text 66">
            <a:extLst>
              <a:ext uri="{FF2B5EF4-FFF2-40B4-BE49-F238E27FC236}">
                <a16:creationId xmlns:a16="http://schemas.microsoft.com/office/drawing/2014/main" id="{867BFC5B-7382-F6C2-0C1E-E7367835955C}"/>
              </a:ext>
            </a:extLst>
          </p:cNvPr>
          <p:cNvSpPr/>
          <p:nvPr/>
        </p:nvSpPr>
        <p:spPr>
          <a:xfrm>
            <a:off x="381000" y="5522094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CREDIT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4" name="Text 99">
            <a:extLst>
              <a:ext uri="{FF2B5EF4-FFF2-40B4-BE49-F238E27FC236}">
                <a16:creationId xmlns:a16="http://schemas.microsoft.com/office/drawing/2014/main" id="{205311AE-5CB6-88ED-EDCE-8A47F485F65B}"/>
              </a:ext>
            </a:extLst>
          </p:cNvPr>
          <p:cNvSpPr/>
          <p:nvPr/>
        </p:nvSpPr>
        <p:spPr>
          <a:xfrm>
            <a:off x="2436115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Assess credit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need (parallel)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6" name="Text 101">
            <a:extLst>
              <a:ext uri="{FF2B5EF4-FFF2-40B4-BE49-F238E27FC236}">
                <a16:creationId xmlns:a16="http://schemas.microsoft.com/office/drawing/2014/main" id="{820D4803-8202-D530-C209-07C67AD4FF0F}"/>
              </a:ext>
            </a:extLst>
          </p:cNvPr>
          <p:cNvSpPr/>
          <p:nvPr/>
        </p:nvSpPr>
        <p:spPr>
          <a:xfrm>
            <a:off x="3395209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C2.1 Determine credit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requirement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8" name="Text 103">
            <a:extLst>
              <a:ext uri="{FF2B5EF4-FFF2-40B4-BE49-F238E27FC236}">
                <a16:creationId xmlns:a16="http://schemas.microsoft.com/office/drawing/2014/main" id="{0D4CB045-F233-E276-2429-21D85AB7992A}"/>
              </a:ext>
            </a:extLst>
          </p:cNvPr>
          <p:cNvSpPr/>
          <p:nvPr/>
        </p:nvSpPr>
        <p:spPr>
          <a:xfrm>
            <a:off x="4354303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C2.2 Retrieve &amp; validate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financial / exposure data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0" name="Text 105">
            <a:extLst>
              <a:ext uri="{FF2B5EF4-FFF2-40B4-BE49-F238E27FC236}">
                <a16:creationId xmlns:a16="http://schemas.microsoft.com/office/drawing/2014/main" id="{525CD8A1-8104-A30A-D868-13644149234C}"/>
              </a:ext>
            </a:extLst>
          </p:cNvPr>
          <p:cNvSpPr/>
          <p:nvPr/>
        </p:nvSpPr>
        <p:spPr>
          <a:xfrm>
            <a:off x="5313397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C2.3 Assess counterparty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credit risk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2" name="Text 107">
            <a:extLst>
              <a:ext uri="{FF2B5EF4-FFF2-40B4-BE49-F238E27FC236}">
                <a16:creationId xmlns:a16="http://schemas.microsoft.com/office/drawing/2014/main" id="{6C6E13C4-4254-EB6A-57E4-BBE55843AE4F}"/>
              </a:ext>
            </a:extLst>
          </p:cNvPr>
          <p:cNvSpPr/>
          <p:nvPr/>
        </p:nvSpPr>
        <p:spPr>
          <a:xfrm>
            <a:off x="6272491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C2.4 Determine credit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limit &amp; conditions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4" name="Text 109">
            <a:extLst>
              <a:ext uri="{FF2B5EF4-FFF2-40B4-BE49-F238E27FC236}">
                <a16:creationId xmlns:a16="http://schemas.microsoft.com/office/drawing/2014/main" id="{4D02B41D-0192-5711-B8D6-888D3B5542E2}"/>
              </a:ext>
            </a:extLst>
          </p:cNvPr>
          <p:cNvSpPr/>
          <p:nvPr/>
        </p:nvSpPr>
        <p:spPr>
          <a:xfrm>
            <a:off x="7231585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C2.5 Obtain credit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approval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6" name="Text 111">
            <a:extLst>
              <a:ext uri="{FF2B5EF4-FFF2-40B4-BE49-F238E27FC236}">
                <a16:creationId xmlns:a16="http://schemas.microsoft.com/office/drawing/2014/main" id="{0B350EF3-FAEE-8561-DE5D-CFAB40D5EA9D}"/>
              </a:ext>
            </a:extLst>
          </p:cNvPr>
          <p:cNvSpPr/>
          <p:nvPr/>
        </p:nvSpPr>
        <p:spPr>
          <a:xfrm>
            <a:off x="8190679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C2.6 Provide Credit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 data to Legal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8" name="Text 113">
            <a:extLst>
              <a:ext uri="{FF2B5EF4-FFF2-40B4-BE49-F238E27FC236}">
                <a16:creationId xmlns:a16="http://schemas.microsoft.com/office/drawing/2014/main" id="{6D919287-B17F-ABC4-C576-6D5AE049B33D}"/>
              </a:ext>
            </a:extLst>
          </p:cNvPr>
          <p:cNvSpPr/>
          <p:nvPr/>
        </p:nvSpPr>
        <p:spPr>
          <a:xfrm>
            <a:off x="9149772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C2.7 Review / approve final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 &amp; data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85" name="Shape 170">
            <a:extLst>
              <a:ext uri="{FF2B5EF4-FFF2-40B4-BE49-F238E27FC236}">
                <a16:creationId xmlns:a16="http://schemas.microsoft.com/office/drawing/2014/main" id="{C5865F84-0E24-F2F4-4DDC-DD8E55CB3537}"/>
              </a:ext>
            </a:extLst>
          </p:cNvPr>
          <p:cNvSpPr/>
          <p:nvPr/>
        </p:nvSpPr>
        <p:spPr>
          <a:xfrm flipV="1">
            <a:off x="3353631" y="4836293"/>
            <a:ext cx="6128831" cy="1"/>
          </a:xfrm>
          <a:prstGeom prst="line">
            <a:avLst/>
          </a:prstGeom>
          <a:noFill/>
          <a:ln w="10160">
            <a:solidFill>
              <a:srgbClr val="6F42C1"/>
            </a:solidFill>
            <a:prstDash val="dash"/>
            <a:headEnd type="none"/>
            <a:tailEnd type="triangle"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Text 70">
            <a:extLst>
              <a:ext uri="{FF2B5EF4-FFF2-40B4-BE49-F238E27FC236}">
                <a16:creationId xmlns:a16="http://schemas.microsoft.com/office/drawing/2014/main" id="{694DE2DA-5A9B-A731-E8D3-38EAAC79945E}"/>
              </a:ext>
            </a:extLst>
          </p:cNvPr>
          <p:cNvSpPr/>
          <p:nvPr/>
        </p:nvSpPr>
        <p:spPr>
          <a:xfrm>
            <a:off x="1261723" y="2964324"/>
            <a:ext cx="1152000" cy="223298"/>
          </a:xfrm>
          <a:prstGeom prst="roundRect">
            <a:avLst>
              <a:gd name="adj" fmla="val 27122"/>
            </a:avLst>
          </a:prstGeom>
          <a:solidFill>
            <a:srgbClr val="F0F2F3"/>
          </a:solidFill>
          <a:ln w="8255">
            <a:solidFill>
              <a:schemeClr val="tx1">
                <a:lumMod val="75000"/>
              </a:schemeClr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M0.3 Determine DD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M0.4 Record booking model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20B709C-3B98-4359-99F1-02EB78BDFFC5}"/>
              </a:ext>
            </a:extLst>
          </p:cNvPr>
          <p:cNvCxnSpPr>
            <a:cxnSpLocks/>
            <a:stCxn id="305" idx="1"/>
            <a:endCxn id="291" idx="2"/>
          </p:cNvCxnSpPr>
          <p:nvPr/>
        </p:nvCxnSpPr>
        <p:spPr>
          <a:xfrm rot="10800000">
            <a:off x="4186507" y="3584200"/>
            <a:ext cx="2140004" cy="513832"/>
          </a:xfrm>
          <a:prstGeom prst="bentConnector2">
            <a:avLst/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 w="sm" len="sm"/>
          </a:ln>
        </p:spPr>
      </p:cxnSp>
      <p:sp>
        <p:nvSpPr>
          <p:cNvPr id="18" name="Text 76">
            <a:extLst>
              <a:ext uri="{FF2B5EF4-FFF2-40B4-BE49-F238E27FC236}">
                <a16:creationId xmlns:a16="http://schemas.microsoft.com/office/drawing/2014/main" id="{C5072453-6A66-58FE-D126-8BCA3FDBD485}"/>
              </a:ext>
            </a:extLst>
          </p:cNvPr>
          <p:cNvSpPr/>
          <p:nvPr/>
        </p:nvSpPr>
        <p:spPr>
          <a:xfrm>
            <a:off x="3610507" y="2752911"/>
            <a:ext cx="1152000" cy="646125"/>
          </a:xfrm>
          <a:prstGeom prst="roundRect">
            <a:avLst>
              <a:gd name="adj" fmla="val 8679"/>
            </a:avLst>
          </a:prstGeom>
          <a:solidFill>
            <a:srgbClr val="DDECEF"/>
          </a:solidFill>
          <a:ln w="8255">
            <a:solidFill>
              <a:srgbClr val="A9CDBB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M2.1 Determine AML / KYC requirements &amp; applicable reliefs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M2.2 Determine non-AML requirements &amp; applicable exemption (With Legal if required)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M2.3 Consolidate requirements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M2.4 Apply risk rating, identify EDD indicators &amp; adjust requirements</a:t>
            </a:r>
          </a:p>
        </p:txBody>
      </p:sp>
      <p:sp>
        <p:nvSpPr>
          <p:cNvPr id="20" name="Text 71">
            <a:extLst>
              <a:ext uri="{FF2B5EF4-FFF2-40B4-BE49-F238E27FC236}">
                <a16:creationId xmlns:a16="http://schemas.microsoft.com/office/drawing/2014/main" id="{369C8EF5-52F1-5590-A662-EE39E5AD0DCF}"/>
              </a:ext>
            </a:extLst>
          </p:cNvPr>
          <p:cNvSpPr/>
          <p:nvPr/>
        </p:nvSpPr>
        <p:spPr>
          <a:xfrm>
            <a:off x="2436115" y="2298571"/>
            <a:ext cx="1152000" cy="171111"/>
          </a:xfrm>
          <a:prstGeom prst="roundRect">
            <a:avLst>
              <a:gd name="adj" fmla="val 29541"/>
            </a:avLst>
          </a:prstGeom>
          <a:solidFill>
            <a:srgbClr val="DDECEF"/>
          </a:solidFill>
          <a:ln w="8255">
            <a:solidFill>
              <a:srgbClr val="A9CDBB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M1.1 Submit onboarding request &amp; capture initial client / relationship 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EC85B4D-ACC3-A91B-1930-E2FC639CBD07}"/>
              </a:ext>
            </a:extLst>
          </p:cNvPr>
          <p:cNvCxnSpPr>
            <a:cxnSpLocks/>
            <a:stCxn id="344" idx="3"/>
            <a:endCxn id="65" idx="2"/>
          </p:cNvCxnSpPr>
          <p:nvPr/>
        </p:nvCxnSpPr>
        <p:spPr>
          <a:xfrm flipV="1">
            <a:off x="9869772" y="3492524"/>
            <a:ext cx="1360644" cy="1732003"/>
          </a:xfrm>
          <a:prstGeom prst="bentConnector2">
            <a:avLst/>
          </a:prstGeom>
          <a:noFill/>
          <a:ln w="10160">
            <a:solidFill>
              <a:srgbClr val="16883E"/>
            </a:solidFill>
            <a:prstDash val="dash"/>
            <a:headEnd type="none"/>
            <a:tailEnd type="triangle"/>
          </a:ln>
        </p:spPr>
      </p:cxnSp>
      <p:sp>
        <p:nvSpPr>
          <p:cNvPr id="65" name="Text 83">
            <a:extLst>
              <a:ext uri="{FF2B5EF4-FFF2-40B4-BE49-F238E27FC236}">
                <a16:creationId xmlns:a16="http://schemas.microsoft.com/office/drawing/2014/main" id="{78C20E69-D6ED-348E-F566-26C44B331826}"/>
              </a:ext>
            </a:extLst>
          </p:cNvPr>
          <p:cNvSpPr/>
          <p:nvPr/>
        </p:nvSpPr>
        <p:spPr>
          <a:xfrm>
            <a:off x="10654416" y="2932280"/>
            <a:ext cx="1152000" cy="560244"/>
          </a:xfrm>
          <a:prstGeom prst="roundRect">
            <a:avLst>
              <a:gd name="adj" fmla="val 6667"/>
            </a:avLst>
          </a:prstGeom>
          <a:solidFill>
            <a:srgbClr val="F2ECFA"/>
          </a:solidFill>
          <a:ln w="8255">
            <a:solidFill>
              <a:srgbClr val="C6B3D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M8.1  Confirm all required clearance prerequisites are complete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M8.2 </a:t>
            </a:r>
            <a:r>
              <a:rPr kumimoji="0" lang="en-US" sz="500" b="0" i="0" u="none" strike="noStrike" kern="1200" cap="none" spc="0" normalizeH="0" baseline="0" noProof="0" err="1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Finalise</a:t>
            </a: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onboarding case &amp; link supporting outputs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M8.3 Confirm / record cleared-to-trade status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M8.4 Record clearance timestamp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044281C-461E-B311-47CD-8E921ACAD86D}"/>
              </a:ext>
            </a:extLst>
          </p:cNvPr>
          <p:cNvCxnSpPr>
            <a:stCxn id="314" idx="3"/>
            <a:endCxn id="316" idx="1"/>
          </p:cNvCxnSpPr>
          <p:nvPr/>
        </p:nvCxnSpPr>
        <p:spPr>
          <a:xfrm>
            <a:off x="3156115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1FE8CC5-F692-F840-69D8-DEA170D3F7F8}"/>
              </a:ext>
            </a:extLst>
          </p:cNvPr>
          <p:cNvCxnSpPr>
            <a:cxnSpLocks/>
            <a:stCxn id="316" idx="3"/>
            <a:endCxn id="318" idx="1"/>
          </p:cNvCxnSpPr>
          <p:nvPr/>
        </p:nvCxnSpPr>
        <p:spPr>
          <a:xfrm>
            <a:off x="4115209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63623C2-67BE-702E-8859-44F02B7D3B72}"/>
              </a:ext>
            </a:extLst>
          </p:cNvPr>
          <p:cNvCxnSpPr>
            <a:cxnSpLocks/>
            <a:stCxn id="318" idx="3"/>
            <a:endCxn id="320" idx="1"/>
          </p:cNvCxnSpPr>
          <p:nvPr/>
        </p:nvCxnSpPr>
        <p:spPr>
          <a:xfrm>
            <a:off x="5074303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8BF3B5B-B0AC-1E55-201A-21B09314E929}"/>
              </a:ext>
            </a:extLst>
          </p:cNvPr>
          <p:cNvCxnSpPr>
            <a:cxnSpLocks/>
            <a:endCxn id="322" idx="1"/>
          </p:cNvCxnSpPr>
          <p:nvPr/>
        </p:nvCxnSpPr>
        <p:spPr>
          <a:xfrm>
            <a:off x="6033397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92B23BA-EA58-2F17-77CF-90FEC0C417DA}"/>
              </a:ext>
            </a:extLst>
          </p:cNvPr>
          <p:cNvCxnSpPr>
            <a:cxnSpLocks/>
          </p:cNvCxnSpPr>
          <p:nvPr/>
        </p:nvCxnSpPr>
        <p:spPr>
          <a:xfrm>
            <a:off x="6992491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35B50FA-B94F-E049-571C-456D1A6793F0}"/>
              </a:ext>
            </a:extLst>
          </p:cNvPr>
          <p:cNvCxnSpPr>
            <a:cxnSpLocks/>
          </p:cNvCxnSpPr>
          <p:nvPr/>
        </p:nvCxnSpPr>
        <p:spPr>
          <a:xfrm>
            <a:off x="7951585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88BC036-3DE5-E1A3-DEB7-34654E690D9E}"/>
              </a:ext>
            </a:extLst>
          </p:cNvPr>
          <p:cNvCxnSpPr>
            <a:cxnSpLocks/>
          </p:cNvCxnSpPr>
          <p:nvPr/>
        </p:nvCxnSpPr>
        <p:spPr>
          <a:xfrm>
            <a:off x="8910679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6FF862D-24A2-BE2B-86CB-F31043F2B47C}"/>
              </a:ext>
            </a:extLst>
          </p:cNvPr>
          <p:cNvCxnSpPr>
            <a:cxnSpLocks/>
            <a:stCxn id="330" idx="3"/>
            <a:endCxn id="332" idx="1"/>
          </p:cNvCxnSpPr>
          <p:nvPr/>
        </p:nvCxnSpPr>
        <p:spPr>
          <a:xfrm>
            <a:off x="3156115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9733173-FFE4-D480-B1AD-C22500CE83C8}"/>
              </a:ext>
            </a:extLst>
          </p:cNvPr>
          <p:cNvCxnSpPr>
            <a:cxnSpLocks/>
            <a:stCxn id="332" idx="3"/>
            <a:endCxn id="334" idx="1"/>
          </p:cNvCxnSpPr>
          <p:nvPr/>
        </p:nvCxnSpPr>
        <p:spPr>
          <a:xfrm>
            <a:off x="4115209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090D253-CDE4-2909-6337-C599A03A8AFD}"/>
              </a:ext>
            </a:extLst>
          </p:cNvPr>
          <p:cNvCxnSpPr>
            <a:cxnSpLocks/>
            <a:stCxn id="334" idx="3"/>
            <a:endCxn id="336" idx="1"/>
          </p:cNvCxnSpPr>
          <p:nvPr/>
        </p:nvCxnSpPr>
        <p:spPr>
          <a:xfrm>
            <a:off x="5074303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38249AB-80B3-DF53-C9C4-85D82F0F1D63}"/>
              </a:ext>
            </a:extLst>
          </p:cNvPr>
          <p:cNvCxnSpPr>
            <a:cxnSpLocks/>
          </p:cNvCxnSpPr>
          <p:nvPr/>
        </p:nvCxnSpPr>
        <p:spPr>
          <a:xfrm>
            <a:off x="6033397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1E2348C-D8B7-F6BB-2FBC-AF789AD17A9F}"/>
              </a:ext>
            </a:extLst>
          </p:cNvPr>
          <p:cNvCxnSpPr>
            <a:cxnSpLocks/>
          </p:cNvCxnSpPr>
          <p:nvPr/>
        </p:nvCxnSpPr>
        <p:spPr>
          <a:xfrm>
            <a:off x="6992491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B9B47D27-23A8-E498-DD33-E70DEBBD055C}"/>
              </a:ext>
            </a:extLst>
          </p:cNvPr>
          <p:cNvCxnSpPr>
            <a:cxnSpLocks/>
          </p:cNvCxnSpPr>
          <p:nvPr/>
        </p:nvCxnSpPr>
        <p:spPr>
          <a:xfrm>
            <a:off x="7951585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6E123DF-EDE7-CB0F-3297-2CD4C7C9BA42}"/>
              </a:ext>
            </a:extLst>
          </p:cNvPr>
          <p:cNvCxnSpPr>
            <a:cxnSpLocks/>
          </p:cNvCxnSpPr>
          <p:nvPr/>
        </p:nvCxnSpPr>
        <p:spPr>
          <a:xfrm>
            <a:off x="8910679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D4633D64-2EB8-5095-973A-709469C6F985}"/>
              </a:ext>
            </a:extLst>
          </p:cNvPr>
          <p:cNvCxnSpPr>
            <a:cxnSpLocks/>
            <a:stCxn id="305" idx="3"/>
            <a:endCxn id="297" idx="1"/>
          </p:cNvCxnSpPr>
          <p:nvPr/>
        </p:nvCxnSpPr>
        <p:spPr>
          <a:xfrm flipV="1">
            <a:off x="6744072" y="4078006"/>
            <a:ext cx="389611" cy="20026"/>
          </a:xfrm>
          <a:prstGeom prst="bentConnector3">
            <a:avLst>
              <a:gd name="adj1" fmla="val 50000"/>
            </a:avLst>
          </a:prstGeom>
          <a:noFill/>
          <a:ln w="10160">
            <a:solidFill>
              <a:srgbClr val="16883E"/>
            </a:solidFill>
            <a:prstDash val="solid"/>
            <a:headEnd type="none"/>
            <a:tailEnd type="triangle"/>
          </a:ln>
        </p:spPr>
      </p:cxnSp>
      <p:sp>
        <p:nvSpPr>
          <p:cNvPr id="45" name="Text 16">
            <a:extLst>
              <a:ext uri="{FF2B5EF4-FFF2-40B4-BE49-F238E27FC236}">
                <a16:creationId xmlns:a16="http://schemas.microsoft.com/office/drawing/2014/main" id="{35DA4192-7858-6E20-36CF-6530A400DF54}"/>
              </a:ext>
            </a:extLst>
          </p:cNvPr>
          <p:cNvSpPr/>
          <p:nvPr/>
        </p:nvSpPr>
        <p:spPr>
          <a:xfrm>
            <a:off x="3252290" y="1868208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Respond to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requirements /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clarifications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56A1250D-4371-48F9-CFAD-7E9734010732}"/>
              </a:ext>
            </a:extLst>
          </p:cNvPr>
          <p:cNvCxnSpPr>
            <a:cxnSpLocks/>
            <a:stCxn id="156" idx="6"/>
            <a:endCxn id="47" idx="2"/>
          </p:cNvCxnSpPr>
          <p:nvPr/>
        </p:nvCxnSpPr>
        <p:spPr>
          <a:xfrm flipH="1" flipV="1">
            <a:off x="6535291" y="2197392"/>
            <a:ext cx="2963113" cy="689634"/>
          </a:xfrm>
          <a:prstGeom prst="bentConnector4">
            <a:avLst>
              <a:gd name="adj1" fmla="val -7715"/>
              <a:gd name="adj2" fmla="val 52240"/>
            </a:avLst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 w="sm" len="sm"/>
          </a:ln>
        </p:spPr>
      </p:cxnSp>
      <p:sp>
        <p:nvSpPr>
          <p:cNvPr id="305" name="Text 90">
            <a:extLst>
              <a:ext uri="{FF2B5EF4-FFF2-40B4-BE49-F238E27FC236}">
                <a16:creationId xmlns:a16="http://schemas.microsoft.com/office/drawing/2014/main" id="{95A70D88-63CF-F31E-8FB0-CBA390A855AC}"/>
              </a:ext>
            </a:extLst>
          </p:cNvPr>
          <p:cNvSpPr/>
          <p:nvPr/>
        </p:nvSpPr>
        <p:spPr>
          <a:xfrm>
            <a:off x="6326511" y="4002020"/>
            <a:ext cx="417561" cy="192023"/>
          </a:xfrm>
          <a:prstGeom prst="diamond">
            <a:avLst/>
          </a:prstGeom>
          <a:solidFill>
            <a:srgbClr val="FFF2CC"/>
          </a:solidFill>
          <a:ln w="8890">
            <a:solidFill>
              <a:srgbClr val="C18A2B"/>
            </a:solidFill>
          </a:ln>
        </p:spPr>
        <p:txBody>
          <a:bodyPr wrap="none" lIns="127" tIns="127" rIns="127" bIns="127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Downstream</a:t>
            </a:r>
            <a:endParaRPr kumimoji="0" lang="en-US" sz="41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action?</a:t>
            </a:r>
            <a:endParaRPr kumimoji="0" lang="en-US" sz="41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08" name="Text 93">
            <a:extLst>
              <a:ext uri="{FF2B5EF4-FFF2-40B4-BE49-F238E27FC236}">
                <a16:creationId xmlns:a16="http://schemas.microsoft.com/office/drawing/2014/main" id="{C2883134-9209-6E2C-28DD-4A541BA49739}"/>
              </a:ext>
            </a:extLst>
          </p:cNvPr>
          <p:cNvSpPr/>
          <p:nvPr/>
        </p:nvSpPr>
        <p:spPr>
          <a:xfrm>
            <a:off x="5824518" y="4108986"/>
            <a:ext cx="665960" cy="201168"/>
          </a:xfrm>
          <a:prstGeom prst="roundRect">
            <a:avLst>
              <a:gd name="adj" fmla="val 22727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required</a:t>
            </a:r>
          </a:p>
        </p:txBody>
      </p: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5291EE5B-395F-5904-F40D-A425F3D62048}"/>
              </a:ext>
            </a:extLst>
          </p:cNvPr>
          <p:cNvCxnSpPr>
            <a:cxnSpLocks/>
            <a:stCxn id="158" idx="2"/>
            <a:endCxn id="48" idx="2"/>
          </p:cNvCxnSpPr>
          <p:nvPr/>
        </p:nvCxnSpPr>
        <p:spPr>
          <a:xfrm rot="10800000">
            <a:off x="7889982" y="2197392"/>
            <a:ext cx="383085" cy="1228942"/>
          </a:xfrm>
          <a:prstGeom prst="bentConnector2">
            <a:avLst/>
          </a:prstGeom>
          <a:noFill/>
          <a:ln w="10160">
            <a:solidFill>
              <a:srgbClr val="16883E"/>
            </a:solidFill>
            <a:prstDash val="solid"/>
            <a:headEnd type="none"/>
            <a:tailEnd type="triangle"/>
          </a:ln>
        </p:spPr>
      </p:cxnSp>
      <p:sp>
        <p:nvSpPr>
          <p:cNvPr id="156" name="Oval 155">
            <a:extLst>
              <a:ext uri="{FF2B5EF4-FFF2-40B4-BE49-F238E27FC236}">
                <a16:creationId xmlns:a16="http://schemas.microsoft.com/office/drawing/2014/main" id="{FE2172D5-C781-137E-5171-CADCFFB7781F}"/>
              </a:ext>
            </a:extLst>
          </p:cNvPr>
          <p:cNvSpPr/>
          <p:nvPr/>
        </p:nvSpPr>
        <p:spPr>
          <a:xfrm>
            <a:off x="9436613" y="2856130"/>
            <a:ext cx="61791" cy="6179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err="1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8" name="Oval 157">
            <a:extLst>
              <a:ext uri="{FF2B5EF4-FFF2-40B4-BE49-F238E27FC236}">
                <a16:creationId xmlns:a16="http://schemas.microsoft.com/office/drawing/2014/main" id="{37D5673E-DB22-74E5-D46E-588376FFFE56}"/>
              </a:ext>
            </a:extLst>
          </p:cNvPr>
          <p:cNvSpPr/>
          <p:nvPr/>
        </p:nvSpPr>
        <p:spPr>
          <a:xfrm>
            <a:off x="8273066" y="3395438"/>
            <a:ext cx="61791" cy="61791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err="1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1" name="Text 90">
            <a:extLst>
              <a:ext uri="{FF2B5EF4-FFF2-40B4-BE49-F238E27FC236}">
                <a16:creationId xmlns:a16="http://schemas.microsoft.com/office/drawing/2014/main" id="{D245F835-11F3-4E64-9B66-788BF03EE34F}"/>
              </a:ext>
            </a:extLst>
          </p:cNvPr>
          <p:cNvSpPr/>
          <p:nvPr/>
        </p:nvSpPr>
        <p:spPr>
          <a:xfrm>
            <a:off x="2037015" y="3896379"/>
            <a:ext cx="417561" cy="384048"/>
          </a:xfrm>
          <a:prstGeom prst="diamond">
            <a:avLst/>
          </a:prstGeom>
          <a:solidFill>
            <a:srgbClr val="FFF2CC"/>
          </a:solidFill>
          <a:ln w="8890">
            <a:solidFill>
              <a:srgbClr val="C18A2B"/>
            </a:solidFill>
          </a:ln>
        </p:spPr>
        <p:txBody>
          <a:bodyPr wrap="none" lIns="127" tIns="127" rIns="127" bIns="127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Credit required?</a:t>
            </a:r>
            <a:endParaRPr kumimoji="0" lang="en-US" sz="41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C22C49C7-5B2F-1138-1841-A98BC4221860}"/>
              </a:ext>
            </a:extLst>
          </p:cNvPr>
          <p:cNvCxnSpPr>
            <a:cxnSpLocks/>
            <a:stCxn id="161" idx="2"/>
            <a:endCxn id="330" idx="1"/>
          </p:cNvCxnSpPr>
          <p:nvPr/>
        </p:nvCxnSpPr>
        <p:spPr>
          <a:xfrm rot="16200000" flipH="1">
            <a:off x="1868905" y="4657317"/>
            <a:ext cx="944100" cy="190319"/>
          </a:xfrm>
          <a:prstGeom prst="bentConnector2">
            <a:avLst/>
          </a:prstGeom>
          <a:noFill/>
          <a:ln w="10160">
            <a:solidFill>
              <a:srgbClr val="16883E"/>
            </a:solidFill>
            <a:prstDash val="solid"/>
            <a:headEnd type="none"/>
            <a:tailEnd type="triangle"/>
          </a:ln>
        </p:spPr>
      </p:cxnSp>
      <p:cxnSp>
        <p:nvCxnSpPr>
          <p:cNvPr id="167" name="Connector: Elbow 166">
            <a:extLst>
              <a:ext uri="{FF2B5EF4-FFF2-40B4-BE49-F238E27FC236}">
                <a16:creationId xmlns:a16="http://schemas.microsoft.com/office/drawing/2014/main" id="{2AB54D16-688B-9B30-03CD-4770AD25005B}"/>
              </a:ext>
            </a:extLst>
          </p:cNvPr>
          <p:cNvCxnSpPr>
            <a:cxnSpLocks/>
            <a:stCxn id="284" idx="2"/>
            <a:endCxn id="161" idx="0"/>
          </p:cNvCxnSpPr>
          <p:nvPr/>
        </p:nvCxnSpPr>
        <p:spPr>
          <a:xfrm rot="5400000">
            <a:off x="2378794" y="3263058"/>
            <a:ext cx="500324" cy="766319"/>
          </a:xfrm>
          <a:prstGeom prst="bentConnector3">
            <a:avLst>
              <a:gd name="adj1" fmla="val 50000"/>
            </a:avLst>
          </a:prstGeom>
          <a:noFill/>
          <a:ln w="10160">
            <a:solidFill>
              <a:srgbClr val="16883E"/>
            </a:solidFill>
            <a:prstDash val="solid"/>
            <a:headEnd type="none"/>
            <a:tailEnd type="triangle"/>
          </a:ln>
        </p:spPr>
      </p:cxnSp>
      <p:sp>
        <p:nvSpPr>
          <p:cNvPr id="177" name="Text 81">
            <a:extLst>
              <a:ext uri="{FF2B5EF4-FFF2-40B4-BE49-F238E27FC236}">
                <a16:creationId xmlns:a16="http://schemas.microsoft.com/office/drawing/2014/main" id="{BFD3EBBA-08E2-0EEE-CE0C-111A04B280FB}"/>
              </a:ext>
            </a:extLst>
          </p:cNvPr>
          <p:cNvSpPr/>
          <p:nvPr/>
        </p:nvSpPr>
        <p:spPr>
          <a:xfrm>
            <a:off x="5959291" y="3750305"/>
            <a:ext cx="1152000" cy="159145"/>
          </a:xfrm>
          <a:prstGeom prst="roundRect">
            <a:avLst>
              <a:gd name="adj" fmla="val 5319"/>
            </a:avLst>
          </a:prstGeom>
          <a:solidFill>
            <a:srgbClr val="FFF1E8"/>
          </a:solidFill>
          <a:ln w="8255">
            <a:solidFill>
              <a:srgbClr val="F2B58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M4.6  Assess risk &amp; materiality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M4.7  Determine screening outcome 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E165B3FA-CD59-A0AC-C276-8DD7722FC9E5}"/>
              </a:ext>
            </a:extLst>
          </p:cNvPr>
          <p:cNvCxnSpPr>
            <a:cxnSpLocks/>
            <a:stCxn id="328" idx="3"/>
            <a:endCxn id="65" idx="2"/>
          </p:cNvCxnSpPr>
          <p:nvPr/>
        </p:nvCxnSpPr>
        <p:spPr>
          <a:xfrm flipV="1">
            <a:off x="9869772" y="3492524"/>
            <a:ext cx="1360644" cy="2203306"/>
          </a:xfrm>
          <a:prstGeom prst="bentConnector2">
            <a:avLst/>
          </a:prstGeom>
          <a:noFill/>
          <a:ln w="10160">
            <a:solidFill>
              <a:srgbClr val="16883E"/>
            </a:solidFill>
            <a:prstDash val="dash"/>
            <a:headEnd type="none"/>
            <a:tailEnd type="triangle"/>
          </a:ln>
        </p:spPr>
      </p:cxnSp>
      <p:sp>
        <p:nvSpPr>
          <p:cNvPr id="268" name="Shape 47">
            <a:extLst>
              <a:ext uri="{FF2B5EF4-FFF2-40B4-BE49-F238E27FC236}">
                <a16:creationId xmlns:a16="http://schemas.microsoft.com/office/drawing/2014/main" id="{D362829F-AF7B-1BD1-DD1D-4BE0BB751DE2}"/>
              </a:ext>
            </a:extLst>
          </p:cNvPr>
          <p:cNvSpPr/>
          <p:nvPr/>
        </p:nvSpPr>
        <p:spPr>
          <a:xfrm>
            <a:off x="380998" y="5896997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9" name="Text 20">
            <a:extLst>
              <a:ext uri="{FF2B5EF4-FFF2-40B4-BE49-F238E27FC236}">
                <a16:creationId xmlns:a16="http://schemas.microsoft.com/office/drawing/2014/main" id="{9926831A-FA22-312C-F2EF-4C5114A8556E}"/>
              </a:ext>
            </a:extLst>
          </p:cNvPr>
          <p:cNvSpPr/>
          <p:nvPr/>
        </p:nvSpPr>
        <p:spPr>
          <a:xfrm>
            <a:off x="9700356" y="1868208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Respond to QA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gap requests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" name="Text 77">
            <a:extLst>
              <a:ext uri="{FF2B5EF4-FFF2-40B4-BE49-F238E27FC236}">
                <a16:creationId xmlns:a16="http://schemas.microsoft.com/office/drawing/2014/main" id="{BD9468B7-F1C0-CFF9-C296-D0F306E0CAC0}"/>
              </a:ext>
            </a:extLst>
          </p:cNvPr>
          <p:cNvSpPr/>
          <p:nvPr/>
        </p:nvSpPr>
        <p:spPr>
          <a:xfrm>
            <a:off x="4784899" y="2298571"/>
            <a:ext cx="1152000" cy="79968"/>
          </a:xfrm>
          <a:prstGeom prst="roundRect">
            <a:avLst>
              <a:gd name="adj" fmla="val 6173"/>
            </a:avLst>
          </a:prstGeom>
          <a:solidFill>
            <a:srgbClr val="EDF3FC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M3.3  Request info from client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2332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E07FA-5654-CB4B-9D8B-3C5B70094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62">
            <a:extLst>
              <a:ext uri="{FF2B5EF4-FFF2-40B4-BE49-F238E27FC236}">
                <a16:creationId xmlns:a16="http://schemas.microsoft.com/office/drawing/2014/main" id="{79C6A9D4-7950-4F05-C317-A702051D625E}"/>
              </a:ext>
            </a:extLst>
          </p:cNvPr>
          <p:cNvSpPr/>
          <p:nvPr/>
        </p:nvSpPr>
        <p:spPr>
          <a:xfrm>
            <a:off x="380999" y="2792363"/>
            <a:ext cx="11427853" cy="1031926"/>
          </a:xfrm>
          <a:prstGeom prst="rect">
            <a:avLst/>
          </a:prstGeom>
          <a:solidFill>
            <a:schemeClr val="accent1">
              <a:lumMod val="20000"/>
              <a:lumOff val="80000"/>
              <a:alpha val="30000"/>
            </a:scheme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Agentic execution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72CE5B7-A007-E570-925A-95A4298D2F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882650"/>
            <a:ext cx="11439525" cy="220663"/>
          </a:xfrm>
          <a:noFill/>
          <a:ln/>
        </p:spPr>
        <p:txBody>
          <a:bodyPr vert="horz" wrap="square" lIns="254" tIns="254" rIns="254" bIns="254" rtlCol="0" anchor="t">
            <a:noAutofit/>
          </a:bodyPr>
          <a:lstStyle/>
          <a:p>
            <a:r>
              <a:rPr lang="en-US" dirty="0"/>
              <a:t>Dynamic requirements determine what runs; non-dependent fulfilment starts early; readiness is continuously reassessed and published as structured state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25DAC-1E9C-B154-4331-6892AB5E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3375"/>
            <a:ext cx="11430000" cy="480131"/>
          </a:xfrm>
        </p:spPr>
        <p:txBody>
          <a:bodyPr/>
          <a:lstStyle/>
          <a:p>
            <a:r>
              <a:rPr lang="en-US"/>
              <a:t>Target clear-to-trade process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0ABB5-186B-CE54-607E-A942EBDFB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400800"/>
            <a:ext cx="4114800" cy="3048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D745C-3744-BB41-D442-61BAE8EB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D39823-8059-4D49-BD26-6D32C31B8621}" type="slidenum">
              <a:rPr kumimoji="0" lang="en-AU" sz="800" b="0" i="0" u="none" strike="noStrike" kern="1200" cap="none" spc="0" normalizeH="0" baseline="0" noProof="0" smtClean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AU" sz="800" b="0" i="0" u="none" strike="noStrike" kern="1200" cap="none" spc="0" normalizeH="0" baseline="0" noProof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08556AA2-80F8-4256-8543-4F5674455A18}"/>
              </a:ext>
            </a:extLst>
          </p:cNvPr>
          <p:cNvSpPr/>
          <p:nvPr/>
        </p:nvSpPr>
        <p:spPr>
          <a:xfrm>
            <a:off x="380998" y="1382286"/>
            <a:ext cx="485849" cy="975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10" b="1" i="0" u="none" strike="noStrike" kern="1200" cap="none" spc="0" normalizeH="0" baseline="0" noProof="0">
                <a:ln>
                  <a:noFill/>
                </a:ln>
                <a:solidFill>
                  <a:srgbClr val="63717C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TRIGGER</a:t>
            </a:r>
            <a:endParaRPr kumimoji="0" lang="en-US" sz="61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52590129-E14A-10F3-E757-B8B9818835F0}"/>
              </a:ext>
            </a:extLst>
          </p:cNvPr>
          <p:cNvSpPr/>
          <p:nvPr/>
        </p:nvSpPr>
        <p:spPr>
          <a:xfrm>
            <a:off x="911015" y="1374785"/>
            <a:ext cx="7552738" cy="112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5" b="0" i="0" u="none" strike="noStrike" kern="1200" cap="none" spc="0" normalizeH="0" baseline="0" noProof="0" dirty="0">
                <a:ln>
                  <a:noFill/>
                </a:ln>
                <a:solidFill>
                  <a:srgbClr val="63717C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New relationship  •  product / service extension  •  material client / ownership / risk change  •  refresh / reassessment</a:t>
            </a:r>
            <a:endParaRPr kumimoji="0" lang="en-US" sz="605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AFE95D9-3429-10A1-FADF-F59F0A197A07}"/>
              </a:ext>
            </a:extLst>
          </p:cNvPr>
          <p:cNvSpPr/>
          <p:nvPr/>
        </p:nvSpPr>
        <p:spPr>
          <a:xfrm>
            <a:off x="1261723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F0F2F3"/>
          </a:solidFill>
          <a:ln>
            <a:solidFill>
              <a:srgbClr val="F0F2F3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68737D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M0  </a:t>
            </a: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Booking model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determination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EDB0637A-A4A7-23EA-C322-BC0649E8637B}"/>
              </a:ext>
            </a:extLst>
          </p:cNvPr>
          <p:cNvSpPr/>
          <p:nvPr/>
        </p:nvSpPr>
        <p:spPr>
          <a:xfrm>
            <a:off x="2436115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DDECEF"/>
          </a:solidFill>
          <a:ln>
            <a:solidFill>
              <a:srgbClr val="DDECEF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E697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Client intake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&amp; triage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D1E2F8C-A35A-6078-8873-5BB15D7A0A7F}"/>
              </a:ext>
            </a:extLst>
          </p:cNvPr>
          <p:cNvSpPr/>
          <p:nvPr/>
        </p:nvSpPr>
        <p:spPr>
          <a:xfrm>
            <a:off x="3610507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DDECEF"/>
          </a:solidFill>
          <a:ln>
            <a:solidFill>
              <a:srgbClr val="DDECEF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E697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Requirements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determination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A84F21B-D4B3-5214-744D-C218A58A6924}"/>
              </a:ext>
            </a:extLst>
          </p:cNvPr>
          <p:cNvSpPr/>
          <p:nvPr/>
        </p:nvSpPr>
        <p:spPr>
          <a:xfrm>
            <a:off x="4784899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E2EAF9"/>
          </a:solidFill>
          <a:ln>
            <a:solidFill>
              <a:srgbClr val="E2EAF9"/>
            </a:solidFill>
          </a:ln>
        </p:spPr>
        <p:txBody>
          <a:bodyPr wrap="square" lIns="36000" tIns="0" rIns="36000" bIns="0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F5DB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Document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sourcing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E5652159-11B8-1076-FC4A-1B82C55EBA17}"/>
              </a:ext>
            </a:extLst>
          </p:cNvPr>
          <p:cNvSpPr/>
          <p:nvPr/>
        </p:nvSpPr>
        <p:spPr>
          <a:xfrm>
            <a:off x="5959291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F4EBDD"/>
          </a:solidFill>
          <a:ln>
            <a:solidFill>
              <a:srgbClr val="F4EBDD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9A632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Screening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4E1E781-5C73-1E66-DCA9-B33FAEB3726C}"/>
              </a:ext>
            </a:extLst>
          </p:cNvPr>
          <p:cNvSpPr/>
          <p:nvPr/>
        </p:nvSpPr>
        <p:spPr>
          <a:xfrm>
            <a:off x="7133683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F4EBDD"/>
          </a:solidFill>
          <a:ln w="12700">
            <a:solidFill>
              <a:schemeClr val="accent4">
                <a:lumMod val="50000"/>
              </a:schemeClr>
            </a:solidFill>
            <a:prstDash val="dash"/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A06A24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EDD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assessment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305694CA-C3C5-9FFC-7C03-39FEF6E0D05C}"/>
              </a:ext>
            </a:extLst>
          </p:cNvPr>
          <p:cNvSpPr/>
          <p:nvPr/>
        </p:nvSpPr>
        <p:spPr>
          <a:xfrm>
            <a:off x="8308075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EADDF7"/>
          </a:solidFill>
          <a:ln>
            <a:solidFill>
              <a:srgbClr val="EADDF7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7C3EB5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Quality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Assurance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D1FDDCC9-B9FF-8E3C-9CCC-0F5FF2C89E91}"/>
              </a:ext>
            </a:extLst>
          </p:cNvPr>
          <p:cNvSpPr/>
          <p:nvPr/>
        </p:nvSpPr>
        <p:spPr>
          <a:xfrm>
            <a:off x="10656856" y="1534422"/>
            <a:ext cx="1152000" cy="234196"/>
          </a:xfrm>
          <a:prstGeom prst="roundRect">
            <a:avLst>
              <a:gd name="adj" fmla="val 14545"/>
            </a:avLst>
          </a:prstGeom>
          <a:solidFill>
            <a:srgbClr val="E3F4DF"/>
          </a:solidFill>
          <a:ln>
            <a:solidFill>
              <a:srgbClr val="E3F4DF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188B42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 </a:t>
            </a:r>
            <a:r>
              <a:rPr kumimoji="0" lang="en-US" sz="700" b="1" i="0" u="none" strike="noStrike" kern="1200" cap="none" spc="0" normalizeH="0" baseline="0" noProof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Cleared-to-trade</a:t>
            </a:r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86" name="Text 17">
            <a:extLst>
              <a:ext uri="{FF2B5EF4-FFF2-40B4-BE49-F238E27FC236}">
                <a16:creationId xmlns:a16="http://schemas.microsoft.com/office/drawing/2014/main" id="{4CC7A1D2-04A2-4945-ACCB-D2F213BB7B9E}"/>
              </a:ext>
            </a:extLst>
          </p:cNvPr>
          <p:cNvSpPr/>
          <p:nvPr/>
        </p:nvSpPr>
        <p:spPr>
          <a:xfrm>
            <a:off x="2450422" y="1824538"/>
            <a:ext cx="6891285" cy="234196"/>
          </a:xfrm>
          <a:prstGeom prst="roundRect">
            <a:avLst>
              <a:gd name="adj" fmla="val 14545"/>
            </a:avLst>
          </a:prstGeom>
          <a:solidFill>
            <a:srgbClr val="EADDF7">
              <a:alpha val="50000"/>
            </a:srgbClr>
          </a:solidFill>
          <a:ln>
            <a:solidFill>
              <a:srgbClr val="EADDF7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7C3EB5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 </a:t>
            </a:r>
            <a:r>
              <a:rPr kumimoji="0" lang="en-US" sz="700" b="1" i="0" u="none" strike="noStrike" kern="1200" cap="none" spc="0" normalizeH="0" baseline="0" noProof="0" dirty="0">
                <a:ln>
                  <a:noFill/>
                </a:ln>
                <a:solidFill>
                  <a:srgbClr val="202A33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Conflicts Check </a:t>
            </a: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F5E891B0-E8EC-EF7F-C527-5B947752D921}"/>
              </a:ext>
            </a:extLst>
          </p:cNvPr>
          <p:cNvSpPr/>
          <p:nvPr/>
        </p:nvSpPr>
        <p:spPr>
          <a:xfrm>
            <a:off x="7378280" y="1382828"/>
            <a:ext cx="347472" cy="1280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Legend: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F64741EF-210C-E1C7-8EFA-8EB042E70E52}"/>
              </a:ext>
            </a:extLst>
          </p:cNvPr>
          <p:cNvSpPr/>
          <p:nvPr/>
        </p:nvSpPr>
        <p:spPr>
          <a:xfrm>
            <a:off x="7798904" y="1446836"/>
            <a:ext cx="237744" cy="1"/>
          </a:xfrm>
          <a:prstGeom prst="line">
            <a:avLst/>
          </a:prstGeom>
          <a:noFill/>
          <a:ln w="10160">
            <a:solidFill>
              <a:srgbClr val="00000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F8010BCC-E067-5CC9-F567-09A2667576A4}"/>
              </a:ext>
            </a:extLst>
          </p:cNvPr>
          <p:cNvSpPr/>
          <p:nvPr/>
        </p:nvSpPr>
        <p:spPr>
          <a:xfrm>
            <a:off x="8073224" y="1382828"/>
            <a:ext cx="530352" cy="1280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7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Required flow</a:t>
            </a:r>
            <a:endParaRPr kumimoji="0" lang="en-US" sz="47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34FD29D8-2544-E8CF-8D1E-7B18C03C64A8}"/>
              </a:ext>
            </a:extLst>
          </p:cNvPr>
          <p:cNvSpPr/>
          <p:nvPr/>
        </p:nvSpPr>
        <p:spPr>
          <a:xfrm>
            <a:off x="8612720" y="1446836"/>
            <a:ext cx="228600" cy="1"/>
          </a:xfrm>
          <a:prstGeom prst="line">
            <a:avLst/>
          </a:prstGeom>
          <a:noFill/>
          <a:ln w="10160">
            <a:solidFill>
              <a:srgbClr val="159447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E90D86DD-53D2-119B-AE17-1CF01ABFC4A2}"/>
              </a:ext>
            </a:extLst>
          </p:cNvPr>
          <p:cNvSpPr/>
          <p:nvPr/>
        </p:nvSpPr>
        <p:spPr>
          <a:xfrm>
            <a:off x="8877896" y="1382828"/>
            <a:ext cx="658368" cy="1280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Optional / If required</a:t>
            </a:r>
            <a:endParaRPr kumimoji="0" lang="en-US" sz="44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320F946A-9FFC-ABA5-2F67-83B180DA629C}"/>
              </a:ext>
            </a:extLst>
          </p:cNvPr>
          <p:cNvSpPr/>
          <p:nvPr/>
        </p:nvSpPr>
        <p:spPr>
          <a:xfrm>
            <a:off x="9554552" y="1446836"/>
            <a:ext cx="246888" cy="1"/>
          </a:xfrm>
          <a:prstGeom prst="line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836621D3-D31D-F9F9-C5BC-B4743A07296F}"/>
              </a:ext>
            </a:extLst>
          </p:cNvPr>
          <p:cNvSpPr/>
          <p:nvPr/>
        </p:nvSpPr>
        <p:spPr>
          <a:xfrm>
            <a:off x="9828872" y="1382828"/>
            <a:ext cx="502920" cy="1280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Parallel flow</a:t>
            </a: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C453AE78-ADF7-F231-DA59-8B3E3360BFFC}"/>
              </a:ext>
            </a:extLst>
          </p:cNvPr>
          <p:cNvSpPr/>
          <p:nvPr/>
        </p:nvSpPr>
        <p:spPr>
          <a:xfrm>
            <a:off x="10359224" y="1446836"/>
            <a:ext cx="246888" cy="1"/>
          </a:xfrm>
          <a:prstGeom prst="line">
            <a:avLst/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0" name="Text 10">
            <a:extLst>
              <a:ext uri="{FF2B5EF4-FFF2-40B4-BE49-F238E27FC236}">
                <a16:creationId xmlns:a16="http://schemas.microsoft.com/office/drawing/2014/main" id="{078723DB-C216-8C7D-091B-E25D1F530966}"/>
              </a:ext>
            </a:extLst>
          </p:cNvPr>
          <p:cNvSpPr/>
          <p:nvPr/>
        </p:nvSpPr>
        <p:spPr>
          <a:xfrm>
            <a:off x="10633544" y="1382828"/>
            <a:ext cx="502920" cy="12801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Rework / Loop</a:t>
            </a:r>
            <a:endParaRPr kumimoji="0" lang="en-US" sz="4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1" name="Text 11">
            <a:extLst>
              <a:ext uri="{FF2B5EF4-FFF2-40B4-BE49-F238E27FC236}">
                <a16:creationId xmlns:a16="http://schemas.microsoft.com/office/drawing/2014/main" id="{99E0E275-DC4C-4292-FE33-B87FEC464EA2}"/>
              </a:ext>
            </a:extLst>
          </p:cNvPr>
          <p:cNvSpPr/>
          <p:nvPr/>
        </p:nvSpPr>
        <p:spPr>
          <a:xfrm>
            <a:off x="11264480" y="1401116"/>
            <a:ext cx="128016" cy="128016"/>
          </a:xfrm>
          <a:prstGeom prst="diamond">
            <a:avLst/>
          </a:prstGeom>
          <a:solidFill>
            <a:srgbClr val="FFF2CC"/>
          </a:solidFill>
          <a:ln w="8890">
            <a:solidFill>
              <a:srgbClr val="F39C12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2" name="Text 12">
            <a:extLst>
              <a:ext uri="{FF2B5EF4-FFF2-40B4-BE49-F238E27FC236}">
                <a16:creationId xmlns:a16="http://schemas.microsoft.com/office/drawing/2014/main" id="{107F082B-0007-5D58-57B0-A9CA68132225}"/>
              </a:ext>
            </a:extLst>
          </p:cNvPr>
          <p:cNvSpPr/>
          <p:nvPr/>
        </p:nvSpPr>
        <p:spPr>
          <a:xfrm>
            <a:off x="11419928" y="1378256"/>
            <a:ext cx="475488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Decision</a:t>
            </a:r>
            <a:endParaRPr kumimoji="0" lang="en-US" sz="44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gate</a:t>
            </a:r>
            <a:endParaRPr kumimoji="0" lang="en-US" sz="44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3" name="Text 14">
            <a:extLst>
              <a:ext uri="{FF2B5EF4-FFF2-40B4-BE49-F238E27FC236}">
                <a16:creationId xmlns:a16="http://schemas.microsoft.com/office/drawing/2014/main" id="{CB0400D9-A3E1-28EA-27AF-74C7EE627C2D}"/>
              </a:ext>
            </a:extLst>
          </p:cNvPr>
          <p:cNvSpPr/>
          <p:nvPr/>
        </p:nvSpPr>
        <p:spPr>
          <a:xfrm>
            <a:off x="381001" y="2149090"/>
            <a:ext cx="755586" cy="25603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CLIENT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09E596AC-C87A-79AE-48AC-2927E0A29E66}"/>
              </a:ext>
            </a:extLst>
          </p:cNvPr>
          <p:cNvSpPr/>
          <p:nvPr/>
        </p:nvSpPr>
        <p:spPr>
          <a:xfrm>
            <a:off x="1459930" y="2112514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Provide initial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relationship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information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6" name="Text 17">
            <a:extLst>
              <a:ext uri="{FF2B5EF4-FFF2-40B4-BE49-F238E27FC236}">
                <a16:creationId xmlns:a16="http://schemas.microsoft.com/office/drawing/2014/main" id="{6E055BE6-47C9-31A9-3FBD-195A0C3AEB08}"/>
              </a:ext>
            </a:extLst>
          </p:cNvPr>
          <p:cNvSpPr/>
          <p:nvPr/>
        </p:nvSpPr>
        <p:spPr>
          <a:xfrm>
            <a:off x="4983106" y="2112514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  <a:alpha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Provide requested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documents &amp;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information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7" name="Text 18">
            <a:extLst>
              <a:ext uri="{FF2B5EF4-FFF2-40B4-BE49-F238E27FC236}">
                <a16:creationId xmlns:a16="http://schemas.microsoft.com/office/drawing/2014/main" id="{E0B1BD78-377C-3579-8A72-343F1B3EFD26}"/>
              </a:ext>
            </a:extLst>
          </p:cNvPr>
          <p:cNvSpPr/>
          <p:nvPr/>
        </p:nvSpPr>
        <p:spPr>
          <a:xfrm>
            <a:off x="6157498" y="2112514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  <a:alpha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Respond to screening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clarifications /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additional info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146ADB14-A76E-46BC-6BCC-9BB09E5EB7DC}"/>
              </a:ext>
            </a:extLst>
          </p:cNvPr>
          <p:cNvSpPr/>
          <p:nvPr/>
        </p:nvSpPr>
        <p:spPr>
          <a:xfrm>
            <a:off x="7512188" y="2112514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  <a:alpha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Provide EDD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information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(e.g. </a:t>
            </a:r>
            <a:r>
              <a:rPr kumimoji="0" lang="en-US" sz="520" b="1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SoF</a:t>
            </a: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/ SoW)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55CDE7EA-1DE2-6094-464B-C4E54FE4B885}"/>
              </a:ext>
            </a:extLst>
          </p:cNvPr>
          <p:cNvSpPr/>
          <p:nvPr/>
        </p:nvSpPr>
        <p:spPr>
          <a:xfrm>
            <a:off x="8523985" y="2112514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  <a:alpha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Respond to QA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gap requests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1" name="Text 22">
            <a:extLst>
              <a:ext uri="{FF2B5EF4-FFF2-40B4-BE49-F238E27FC236}">
                <a16:creationId xmlns:a16="http://schemas.microsoft.com/office/drawing/2014/main" id="{8E701C90-6F1D-D757-9C1F-D30D728870C5}"/>
              </a:ext>
            </a:extLst>
          </p:cNvPr>
          <p:cNvSpPr/>
          <p:nvPr/>
        </p:nvSpPr>
        <p:spPr>
          <a:xfrm>
            <a:off x="11053270" y="2112514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Receive outcome &amp;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next steps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3" name="Text 24">
            <a:extLst>
              <a:ext uri="{FF2B5EF4-FFF2-40B4-BE49-F238E27FC236}">
                <a16:creationId xmlns:a16="http://schemas.microsoft.com/office/drawing/2014/main" id="{CA6CAC1F-83D1-B33D-6B60-2D1EE603FCB2}"/>
              </a:ext>
            </a:extLst>
          </p:cNvPr>
          <p:cNvSpPr/>
          <p:nvPr/>
        </p:nvSpPr>
        <p:spPr>
          <a:xfrm>
            <a:off x="380998" y="1534422"/>
            <a:ext cx="795354" cy="234196"/>
          </a:xfrm>
          <a:prstGeom prst="roundRect">
            <a:avLst>
              <a:gd name="adj" fmla="val 13889"/>
            </a:avLst>
          </a:prstGeom>
          <a:solidFill>
            <a:srgbClr val="08204A"/>
          </a:solidFill>
          <a:ln w="8255">
            <a:solidFill>
              <a:srgbClr val="08204A"/>
            </a:solidFill>
            <a:prstDash val="solid"/>
          </a:ln>
        </p:spPr>
        <p:txBody>
          <a:bodyPr wrap="square" lIns="381" tIns="381" rIns="381" bIns="38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3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L1 PROCESSES</a:t>
            </a:r>
            <a:endParaRPr kumimoji="0" lang="en-US" sz="73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1" name="Shape 42">
            <a:extLst>
              <a:ext uri="{FF2B5EF4-FFF2-40B4-BE49-F238E27FC236}">
                <a16:creationId xmlns:a16="http://schemas.microsoft.com/office/drawing/2014/main" id="{F7C28B8A-1020-D1F3-0F64-E8DF66244550}"/>
              </a:ext>
            </a:extLst>
          </p:cNvPr>
          <p:cNvSpPr/>
          <p:nvPr/>
        </p:nvSpPr>
        <p:spPr>
          <a:xfrm>
            <a:off x="380998" y="2479375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3" name="Shape 44">
            <a:extLst>
              <a:ext uri="{FF2B5EF4-FFF2-40B4-BE49-F238E27FC236}">
                <a16:creationId xmlns:a16="http://schemas.microsoft.com/office/drawing/2014/main" id="{347AFF86-7437-EE97-AEC2-0986664CA7EE}"/>
              </a:ext>
            </a:extLst>
          </p:cNvPr>
          <p:cNvSpPr/>
          <p:nvPr/>
        </p:nvSpPr>
        <p:spPr>
          <a:xfrm>
            <a:off x="380998" y="4216773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4" name="Shape 45">
            <a:extLst>
              <a:ext uri="{FF2B5EF4-FFF2-40B4-BE49-F238E27FC236}">
                <a16:creationId xmlns:a16="http://schemas.microsoft.com/office/drawing/2014/main" id="{C0B10C53-4FCC-2DC6-BB2D-BA756AEFC051}"/>
              </a:ext>
            </a:extLst>
          </p:cNvPr>
          <p:cNvSpPr/>
          <p:nvPr/>
        </p:nvSpPr>
        <p:spPr>
          <a:xfrm>
            <a:off x="380998" y="4571144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5" name="Shape 46">
            <a:extLst>
              <a:ext uri="{FF2B5EF4-FFF2-40B4-BE49-F238E27FC236}">
                <a16:creationId xmlns:a16="http://schemas.microsoft.com/office/drawing/2014/main" id="{277B4429-9093-CE5D-0FEC-9A8347BB1F70}"/>
              </a:ext>
            </a:extLst>
          </p:cNvPr>
          <p:cNvSpPr/>
          <p:nvPr/>
        </p:nvSpPr>
        <p:spPr>
          <a:xfrm>
            <a:off x="380998" y="5019174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76" name="Shape 47">
            <a:extLst>
              <a:ext uri="{FF2B5EF4-FFF2-40B4-BE49-F238E27FC236}">
                <a16:creationId xmlns:a16="http://schemas.microsoft.com/office/drawing/2014/main" id="{BD0FE58B-2A1C-81D3-92C5-F302D1A8EA31}"/>
              </a:ext>
            </a:extLst>
          </p:cNvPr>
          <p:cNvSpPr/>
          <p:nvPr/>
        </p:nvSpPr>
        <p:spPr>
          <a:xfrm>
            <a:off x="380998" y="5430654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1" name="Shape 52">
            <a:extLst>
              <a:ext uri="{FF2B5EF4-FFF2-40B4-BE49-F238E27FC236}">
                <a16:creationId xmlns:a16="http://schemas.microsoft.com/office/drawing/2014/main" id="{5A43CB5C-C72E-4855-1DCA-6C48501BAA6C}"/>
              </a:ext>
            </a:extLst>
          </p:cNvPr>
          <p:cNvSpPr/>
          <p:nvPr/>
        </p:nvSpPr>
        <p:spPr>
          <a:xfrm>
            <a:off x="2424919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Shape 54">
            <a:extLst>
              <a:ext uri="{FF2B5EF4-FFF2-40B4-BE49-F238E27FC236}">
                <a16:creationId xmlns:a16="http://schemas.microsoft.com/office/drawing/2014/main" id="{81D0C3B2-3A34-3479-B2CA-F3467A835BAD}"/>
              </a:ext>
            </a:extLst>
          </p:cNvPr>
          <p:cNvSpPr/>
          <p:nvPr/>
        </p:nvSpPr>
        <p:spPr>
          <a:xfrm>
            <a:off x="3599370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Shape 55">
            <a:extLst>
              <a:ext uri="{FF2B5EF4-FFF2-40B4-BE49-F238E27FC236}">
                <a16:creationId xmlns:a16="http://schemas.microsoft.com/office/drawing/2014/main" id="{78F0A7C0-6CDA-FE9E-9E5E-B7E86BF13599}"/>
              </a:ext>
            </a:extLst>
          </p:cNvPr>
          <p:cNvSpPr/>
          <p:nvPr/>
        </p:nvSpPr>
        <p:spPr>
          <a:xfrm>
            <a:off x="4773821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5" name="Shape 56">
            <a:extLst>
              <a:ext uri="{FF2B5EF4-FFF2-40B4-BE49-F238E27FC236}">
                <a16:creationId xmlns:a16="http://schemas.microsoft.com/office/drawing/2014/main" id="{6B7AF7D0-03B2-5065-B426-4A3DB0927086}"/>
              </a:ext>
            </a:extLst>
          </p:cNvPr>
          <p:cNvSpPr/>
          <p:nvPr/>
        </p:nvSpPr>
        <p:spPr>
          <a:xfrm>
            <a:off x="5948272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6" name="Shape 57">
            <a:extLst>
              <a:ext uri="{FF2B5EF4-FFF2-40B4-BE49-F238E27FC236}">
                <a16:creationId xmlns:a16="http://schemas.microsoft.com/office/drawing/2014/main" id="{1198B831-1C29-BA3E-862A-F692A2653681}"/>
              </a:ext>
            </a:extLst>
          </p:cNvPr>
          <p:cNvSpPr/>
          <p:nvPr/>
        </p:nvSpPr>
        <p:spPr>
          <a:xfrm>
            <a:off x="7122723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7" name="Shape 58">
            <a:extLst>
              <a:ext uri="{FF2B5EF4-FFF2-40B4-BE49-F238E27FC236}">
                <a16:creationId xmlns:a16="http://schemas.microsoft.com/office/drawing/2014/main" id="{DB3A6D76-65B0-C1A9-2E47-8FEDC2219115}"/>
              </a:ext>
            </a:extLst>
          </p:cNvPr>
          <p:cNvSpPr/>
          <p:nvPr/>
        </p:nvSpPr>
        <p:spPr>
          <a:xfrm>
            <a:off x="8297174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8" name="Shape 59">
            <a:extLst>
              <a:ext uri="{FF2B5EF4-FFF2-40B4-BE49-F238E27FC236}">
                <a16:creationId xmlns:a16="http://schemas.microsoft.com/office/drawing/2014/main" id="{E40DB42E-16A5-D838-CB06-EAD68AAABE10}"/>
              </a:ext>
            </a:extLst>
          </p:cNvPr>
          <p:cNvSpPr/>
          <p:nvPr/>
        </p:nvSpPr>
        <p:spPr>
          <a:xfrm>
            <a:off x="9471625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9" name="Shape 60">
            <a:extLst>
              <a:ext uri="{FF2B5EF4-FFF2-40B4-BE49-F238E27FC236}">
                <a16:creationId xmlns:a16="http://schemas.microsoft.com/office/drawing/2014/main" id="{9E7D6E52-867B-5F05-AAB8-DEF414B90221}"/>
              </a:ext>
            </a:extLst>
          </p:cNvPr>
          <p:cNvSpPr/>
          <p:nvPr/>
        </p:nvSpPr>
        <p:spPr>
          <a:xfrm>
            <a:off x="10646076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0" name="Shape 61">
            <a:extLst>
              <a:ext uri="{FF2B5EF4-FFF2-40B4-BE49-F238E27FC236}">
                <a16:creationId xmlns:a16="http://schemas.microsoft.com/office/drawing/2014/main" id="{7A2B3642-49A5-FBFC-6861-E74C36402D87}"/>
              </a:ext>
            </a:extLst>
          </p:cNvPr>
          <p:cNvSpPr/>
          <p:nvPr/>
        </p:nvSpPr>
        <p:spPr>
          <a:xfrm>
            <a:off x="11820524" y="1855458"/>
            <a:ext cx="1" cy="4443984"/>
          </a:xfrm>
          <a:prstGeom prst="line">
            <a:avLst/>
          </a:prstGeom>
          <a:noFill/>
          <a:ln w="10160">
            <a:solidFill>
              <a:srgbClr val="D9E3F0"/>
            </a:solidFill>
            <a:prstDash val="dash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1" name="Text 62">
            <a:extLst>
              <a:ext uri="{FF2B5EF4-FFF2-40B4-BE49-F238E27FC236}">
                <a16:creationId xmlns:a16="http://schemas.microsoft.com/office/drawing/2014/main" id="{CDC8685F-7967-2709-0816-DF9D283CEFB5}"/>
              </a:ext>
            </a:extLst>
          </p:cNvPr>
          <p:cNvSpPr/>
          <p:nvPr/>
        </p:nvSpPr>
        <p:spPr>
          <a:xfrm>
            <a:off x="381000" y="2542877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SALES / RM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(Front Office)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2" name="Text 63">
            <a:extLst>
              <a:ext uri="{FF2B5EF4-FFF2-40B4-BE49-F238E27FC236}">
                <a16:creationId xmlns:a16="http://schemas.microsoft.com/office/drawing/2014/main" id="{19DA7325-C8DA-E6AE-BFC0-DD3E578AB436}"/>
              </a:ext>
            </a:extLst>
          </p:cNvPr>
          <p:cNvSpPr/>
          <p:nvPr/>
        </p:nvSpPr>
        <p:spPr>
          <a:xfrm>
            <a:off x="381000" y="3879680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CLIENT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FULFILMENT /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KYC OPS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3" name="Text 64">
            <a:extLst>
              <a:ext uri="{FF2B5EF4-FFF2-40B4-BE49-F238E27FC236}">
                <a16:creationId xmlns:a16="http://schemas.microsoft.com/office/drawing/2014/main" id="{EA3D4515-1F99-DD00-4274-230F53200328}"/>
              </a:ext>
            </a:extLst>
          </p:cNvPr>
          <p:cNvSpPr/>
          <p:nvPr/>
        </p:nvSpPr>
        <p:spPr>
          <a:xfrm>
            <a:off x="381000" y="4286975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FINANCIAL CRIME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RISK / COMPLIANCE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4" name="Text 65">
            <a:extLst>
              <a:ext uri="{FF2B5EF4-FFF2-40B4-BE49-F238E27FC236}">
                <a16:creationId xmlns:a16="http://schemas.microsoft.com/office/drawing/2014/main" id="{B417C243-780E-21A4-E071-F88ABA87B58D}"/>
              </a:ext>
            </a:extLst>
          </p:cNvPr>
          <p:cNvSpPr/>
          <p:nvPr/>
        </p:nvSpPr>
        <p:spPr>
          <a:xfrm>
            <a:off x="381000" y="4662558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RMG CONTROL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ROOM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7" name="Text 68">
            <a:extLst>
              <a:ext uri="{FF2B5EF4-FFF2-40B4-BE49-F238E27FC236}">
                <a16:creationId xmlns:a16="http://schemas.microsoft.com/office/drawing/2014/main" id="{82560EF5-D990-B7D6-8F5E-03F2D93672B0}"/>
              </a:ext>
            </a:extLst>
          </p:cNvPr>
          <p:cNvSpPr/>
          <p:nvPr/>
        </p:nvSpPr>
        <p:spPr>
          <a:xfrm>
            <a:off x="381000" y="5955724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APPLICATIONS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&amp; SYSTEMS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83" name="Text 70">
            <a:extLst>
              <a:ext uri="{FF2B5EF4-FFF2-40B4-BE49-F238E27FC236}">
                <a16:creationId xmlns:a16="http://schemas.microsoft.com/office/drawing/2014/main" id="{A40C75EF-E5B4-EBD8-D73B-73293FDA41DC}"/>
              </a:ext>
            </a:extLst>
          </p:cNvPr>
          <p:cNvSpPr/>
          <p:nvPr/>
        </p:nvSpPr>
        <p:spPr>
          <a:xfrm>
            <a:off x="1261723" y="2535399"/>
            <a:ext cx="1152000" cy="171111"/>
          </a:xfrm>
          <a:prstGeom prst="roundRect">
            <a:avLst>
              <a:gd name="adj" fmla="val 17741"/>
            </a:avLst>
          </a:prstGeom>
          <a:solidFill>
            <a:srgbClr val="F0F2F3"/>
          </a:solidFill>
          <a:ln w="8255">
            <a:solidFill>
              <a:schemeClr val="tx1">
                <a:lumMod val="75000"/>
              </a:schemeClr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M0.1 Initiation relationship/ product request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84" name="Text 71">
            <a:extLst>
              <a:ext uri="{FF2B5EF4-FFF2-40B4-BE49-F238E27FC236}">
                <a16:creationId xmlns:a16="http://schemas.microsoft.com/office/drawing/2014/main" id="{976C2560-7284-F07C-B63F-94EF8870A44B}"/>
              </a:ext>
            </a:extLst>
          </p:cNvPr>
          <p:cNvSpPr/>
          <p:nvPr/>
        </p:nvSpPr>
        <p:spPr>
          <a:xfrm>
            <a:off x="2436115" y="2813661"/>
            <a:ext cx="1152000" cy="560244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solidFill>
              <a:srgbClr val="A9CDBB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M1.2 Receive onboarding request info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M1.3 Create onboarding case &amp; working repository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M1.4 Confirm client legal name &amp; location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M1.5 Classify client / legal entity type &amp; triage case</a:t>
            </a:r>
          </a:p>
        </p:txBody>
      </p:sp>
      <p:sp>
        <p:nvSpPr>
          <p:cNvPr id="289" name="Text 74">
            <a:extLst>
              <a:ext uri="{FF2B5EF4-FFF2-40B4-BE49-F238E27FC236}">
                <a16:creationId xmlns:a16="http://schemas.microsoft.com/office/drawing/2014/main" id="{F28C299D-22CD-6C08-608B-562B670A73D7}"/>
              </a:ext>
            </a:extLst>
          </p:cNvPr>
          <p:cNvSpPr/>
          <p:nvPr/>
        </p:nvSpPr>
        <p:spPr>
          <a:xfrm>
            <a:off x="10656856" y="2542877"/>
            <a:ext cx="1152000" cy="86733"/>
          </a:xfrm>
          <a:prstGeom prst="roundRect">
            <a:avLst>
              <a:gd name="adj" fmla="val 18519"/>
            </a:avLst>
          </a:prstGeom>
          <a:solidFill>
            <a:srgbClr val="FFF7E5"/>
          </a:solidFill>
          <a:ln w="8255">
            <a:solidFill>
              <a:srgbClr val="EACB8A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M8.5  Communication outcome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2" name="Text 77">
            <a:extLst>
              <a:ext uri="{FF2B5EF4-FFF2-40B4-BE49-F238E27FC236}">
                <a16:creationId xmlns:a16="http://schemas.microsoft.com/office/drawing/2014/main" id="{6B71B432-6BA2-2035-36FA-EADA8FBAE321}"/>
              </a:ext>
            </a:extLst>
          </p:cNvPr>
          <p:cNvSpPr/>
          <p:nvPr/>
        </p:nvSpPr>
        <p:spPr>
          <a:xfrm>
            <a:off x="4784899" y="2813661"/>
            <a:ext cx="1152000" cy="555028"/>
          </a:xfrm>
          <a:prstGeom prst="roundRect">
            <a:avLst>
              <a:gd name="adj" fmla="val 6173"/>
            </a:avLst>
          </a:prstGeom>
          <a:solidFill>
            <a:srgbClr val="EDF3FC">
              <a:alpha val="10000"/>
            </a:srgbClr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M3.1  Source from public &amp; commercial sources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M3.2  Identify residual gaps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M3.3  Request info from client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M3.4  Capture &amp; validate evidence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M3.5  Manage outstanding gaps &amp; sourcing audit trail</a:t>
            </a:r>
          </a:p>
        </p:txBody>
      </p:sp>
      <p:sp>
        <p:nvSpPr>
          <p:cNvPr id="296" name="Text 81">
            <a:extLst>
              <a:ext uri="{FF2B5EF4-FFF2-40B4-BE49-F238E27FC236}">
                <a16:creationId xmlns:a16="http://schemas.microsoft.com/office/drawing/2014/main" id="{9F19B4BB-A0C9-D73A-CC87-8F7E366160E3}"/>
              </a:ext>
            </a:extLst>
          </p:cNvPr>
          <p:cNvSpPr/>
          <p:nvPr/>
        </p:nvSpPr>
        <p:spPr>
          <a:xfrm>
            <a:off x="5959291" y="2813661"/>
            <a:ext cx="1152000" cy="555028"/>
          </a:xfrm>
          <a:prstGeom prst="roundRect">
            <a:avLst>
              <a:gd name="adj" fmla="val 5319"/>
            </a:avLst>
          </a:prstGeom>
          <a:solidFill>
            <a:srgbClr val="FFF1E8">
              <a:alpha val="10000"/>
            </a:srgbClr>
          </a:solidFill>
          <a:ln w="8255">
            <a:solidFill>
              <a:srgbClr val="F2B58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M4.1  Initial risk pre-screening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M4.2  Early adverse-media screen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M4.3  Establish screening pop.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M4.4  Execute comprehensive screening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M4.5  Adjudicate screening hits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M4.6  Assess risk &amp; materiality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M4.7  Determine screening outcome</a:t>
            </a:r>
          </a:p>
        </p:txBody>
      </p:sp>
      <p:sp>
        <p:nvSpPr>
          <p:cNvPr id="96" name="Text 67">
            <a:extLst>
              <a:ext uri="{FF2B5EF4-FFF2-40B4-BE49-F238E27FC236}">
                <a16:creationId xmlns:a16="http://schemas.microsoft.com/office/drawing/2014/main" id="{EED1A9AC-5D47-206B-9985-FCD27D57F737}"/>
              </a:ext>
            </a:extLst>
          </p:cNvPr>
          <p:cNvSpPr/>
          <p:nvPr/>
        </p:nvSpPr>
        <p:spPr>
          <a:xfrm>
            <a:off x="381000" y="5023359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CGM LEGAL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0" name="Text 115">
            <a:extLst>
              <a:ext uri="{FF2B5EF4-FFF2-40B4-BE49-F238E27FC236}">
                <a16:creationId xmlns:a16="http://schemas.microsoft.com/office/drawing/2014/main" id="{B1EFD620-36B2-57DA-7E51-EE7911CB719D}"/>
              </a:ext>
            </a:extLst>
          </p:cNvPr>
          <p:cNvSpPr/>
          <p:nvPr/>
        </p:nvSpPr>
        <p:spPr>
          <a:xfrm>
            <a:off x="2436115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C1.1 Intake &amp;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err="1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initialise</a:t>
            </a: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legal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request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2" name="Text 117">
            <a:extLst>
              <a:ext uri="{FF2B5EF4-FFF2-40B4-BE49-F238E27FC236}">
                <a16:creationId xmlns:a16="http://schemas.microsoft.com/office/drawing/2014/main" id="{222319AA-91A4-E027-65BC-047575C91035}"/>
              </a:ext>
            </a:extLst>
          </p:cNvPr>
          <p:cNvSpPr/>
          <p:nvPr/>
        </p:nvSpPr>
        <p:spPr>
          <a:xfrm>
            <a:off x="3395209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C1.2 Determine required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agreements / forms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4" name="Text 119">
            <a:extLst>
              <a:ext uri="{FF2B5EF4-FFF2-40B4-BE49-F238E27FC236}">
                <a16:creationId xmlns:a16="http://schemas.microsoft.com/office/drawing/2014/main" id="{6ABFDD30-38F7-A65C-C7B1-B52AA3647CDB}"/>
              </a:ext>
            </a:extLst>
          </p:cNvPr>
          <p:cNvSpPr/>
          <p:nvPr/>
        </p:nvSpPr>
        <p:spPr>
          <a:xfrm>
            <a:off x="4354303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C1.3 Review drafted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6" name="Text 121">
            <a:extLst>
              <a:ext uri="{FF2B5EF4-FFF2-40B4-BE49-F238E27FC236}">
                <a16:creationId xmlns:a16="http://schemas.microsoft.com/office/drawing/2014/main" id="{2F77CA6E-952F-36EE-D62F-40FAADFE2CE2}"/>
              </a:ext>
            </a:extLst>
          </p:cNvPr>
          <p:cNvSpPr/>
          <p:nvPr/>
        </p:nvSpPr>
        <p:spPr>
          <a:xfrm>
            <a:off x="5313397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C1.4 Incorporate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Credit input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(if required)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38" name="Text 123">
            <a:extLst>
              <a:ext uri="{FF2B5EF4-FFF2-40B4-BE49-F238E27FC236}">
                <a16:creationId xmlns:a16="http://schemas.microsoft.com/office/drawing/2014/main" id="{5E6C7DCE-5406-E1AD-B640-5862D48E356F}"/>
              </a:ext>
            </a:extLst>
          </p:cNvPr>
          <p:cNvSpPr/>
          <p:nvPr/>
        </p:nvSpPr>
        <p:spPr>
          <a:xfrm>
            <a:off x="6272491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C1.5 Negotiate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 terms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0" name="Text 125">
            <a:extLst>
              <a:ext uri="{FF2B5EF4-FFF2-40B4-BE49-F238E27FC236}">
                <a16:creationId xmlns:a16="http://schemas.microsoft.com/office/drawing/2014/main" id="{E1CC6688-FC46-19B4-15E8-0929A546DC5F}"/>
              </a:ext>
            </a:extLst>
          </p:cNvPr>
          <p:cNvSpPr/>
          <p:nvPr/>
        </p:nvSpPr>
        <p:spPr>
          <a:xfrm>
            <a:off x="7231585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C1.6 Obtain internal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review &amp; approvals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2" name="Text 127">
            <a:extLst>
              <a:ext uri="{FF2B5EF4-FFF2-40B4-BE49-F238E27FC236}">
                <a16:creationId xmlns:a16="http://schemas.microsoft.com/office/drawing/2014/main" id="{743A699D-D958-4F2F-4DF0-AE8167F556ED}"/>
              </a:ext>
            </a:extLst>
          </p:cNvPr>
          <p:cNvSpPr/>
          <p:nvPr/>
        </p:nvSpPr>
        <p:spPr>
          <a:xfrm>
            <a:off x="8190679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C1.7 Execute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44" name="Text 129">
            <a:extLst>
              <a:ext uri="{FF2B5EF4-FFF2-40B4-BE49-F238E27FC236}">
                <a16:creationId xmlns:a16="http://schemas.microsoft.com/office/drawing/2014/main" id="{8FD151CD-CCFB-1573-80D5-8DE4A554DEA2}"/>
              </a:ext>
            </a:extLst>
          </p:cNvPr>
          <p:cNvSpPr/>
          <p:nvPr/>
        </p:nvSpPr>
        <p:spPr>
          <a:xfrm>
            <a:off x="9149772" y="5069079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3F8F2"/>
          </a:solidFill>
          <a:ln w="8255">
            <a:solidFill>
              <a:srgbClr val="B7D1B2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C1.8 Capture key terms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&amp; store executed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documents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97" name="Text 82">
            <a:extLst>
              <a:ext uri="{FF2B5EF4-FFF2-40B4-BE49-F238E27FC236}">
                <a16:creationId xmlns:a16="http://schemas.microsoft.com/office/drawing/2014/main" id="{D7B973FF-CEA3-C471-FC63-EC2A9A5FDF4F}"/>
              </a:ext>
            </a:extLst>
          </p:cNvPr>
          <p:cNvSpPr/>
          <p:nvPr/>
        </p:nvSpPr>
        <p:spPr>
          <a:xfrm>
            <a:off x="7133683" y="2813661"/>
            <a:ext cx="1152000" cy="706676"/>
          </a:xfrm>
          <a:prstGeom prst="roundRect">
            <a:avLst>
              <a:gd name="adj" fmla="val 4545"/>
            </a:avLst>
          </a:prstGeom>
          <a:solidFill>
            <a:srgbClr val="FFF1E8">
              <a:alpha val="10000"/>
            </a:srgbClr>
          </a:solidFill>
          <a:ln w="8255">
            <a:solidFill>
              <a:srgbClr val="F2B58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M5.1  Initiate &amp; assign EDD case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M5.2  Compile EDD evidence pack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M5.3  Assess evidencing risk factors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M5.4  Close intelligence &amp; gaps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M5.5  Consult risk specialists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M5.6  Determine EDD outcome &amp; conditions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M5.7  Obtain required approvals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M5.8  Record &amp; hand over EDD outcome</a:t>
            </a:r>
          </a:p>
        </p:txBody>
      </p:sp>
      <p:sp>
        <p:nvSpPr>
          <p:cNvPr id="298" name="Text 83">
            <a:extLst>
              <a:ext uri="{FF2B5EF4-FFF2-40B4-BE49-F238E27FC236}">
                <a16:creationId xmlns:a16="http://schemas.microsoft.com/office/drawing/2014/main" id="{98531FA0-E6BB-C907-31DF-95BD874805D4}"/>
              </a:ext>
            </a:extLst>
          </p:cNvPr>
          <p:cNvSpPr/>
          <p:nvPr/>
        </p:nvSpPr>
        <p:spPr>
          <a:xfrm>
            <a:off x="8308075" y="2813661"/>
            <a:ext cx="1152000" cy="800006"/>
          </a:xfrm>
          <a:prstGeom prst="roundRect">
            <a:avLst>
              <a:gd name="adj" fmla="val 6667"/>
            </a:avLst>
          </a:prstGeom>
          <a:solidFill>
            <a:srgbClr val="F2ECFA">
              <a:alpha val="10000"/>
            </a:srgbClr>
          </a:solidFill>
          <a:ln w="8255">
            <a:solidFill>
              <a:srgbClr val="C6B3D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M6.1  Confirm applicable requirements / CIPs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M6.2  Check completeness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M6.3  Validate evidence sources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M6.4  Assess evidence sufficiency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M6.5  Cross-check screening &amp; EDD conditions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M6.6  Identify &amp; issue gaps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M6.7  Re-review remediated items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M6.8  Provide QA sign-off</a:t>
            </a:r>
          </a:p>
        </p:txBody>
      </p:sp>
      <p:sp>
        <p:nvSpPr>
          <p:cNvPr id="303" name="Text 88">
            <a:extLst>
              <a:ext uri="{FF2B5EF4-FFF2-40B4-BE49-F238E27FC236}">
                <a16:creationId xmlns:a16="http://schemas.microsoft.com/office/drawing/2014/main" id="{CCD82DF0-CB91-A668-BD9C-5CBECDFD30DA}"/>
              </a:ext>
            </a:extLst>
          </p:cNvPr>
          <p:cNvSpPr/>
          <p:nvPr/>
        </p:nvSpPr>
        <p:spPr>
          <a:xfrm>
            <a:off x="154190" y="3859867"/>
            <a:ext cx="226808" cy="221492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vert="vert270" wrap="square" lIns="191" tIns="191" rIns="191" bIns="19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19A3FC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HUMAN IN THE LOOP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19A3FC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1" name="Text 96">
            <a:extLst>
              <a:ext uri="{FF2B5EF4-FFF2-40B4-BE49-F238E27FC236}">
                <a16:creationId xmlns:a16="http://schemas.microsoft.com/office/drawing/2014/main" id="{0C21EF99-00B0-56A2-DC01-7008E9B28208}"/>
              </a:ext>
            </a:extLst>
          </p:cNvPr>
          <p:cNvSpPr/>
          <p:nvPr/>
        </p:nvSpPr>
        <p:spPr>
          <a:xfrm>
            <a:off x="2436115" y="4660942"/>
            <a:ext cx="1152000" cy="332418"/>
          </a:xfrm>
          <a:prstGeom prst="roundRect">
            <a:avLst>
              <a:gd name="adj" fmla="val 12500"/>
            </a:avLst>
          </a:prstGeom>
          <a:solidFill>
            <a:srgbClr val="F2ECFA"/>
          </a:solidFill>
          <a:ln w="8255">
            <a:solidFill>
              <a:srgbClr val="C6B3D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M7.5 Investigate potential conflicts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M7.6 Escalate to senior manager  if required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M7.7 Confirm and record outcome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2" name="Text 97">
            <a:extLst>
              <a:ext uri="{FF2B5EF4-FFF2-40B4-BE49-F238E27FC236}">
                <a16:creationId xmlns:a16="http://schemas.microsoft.com/office/drawing/2014/main" id="{7833B979-AD9A-9403-F5F4-0B0FE17DCF69}"/>
              </a:ext>
            </a:extLst>
          </p:cNvPr>
          <p:cNvSpPr/>
          <p:nvPr/>
        </p:nvSpPr>
        <p:spPr>
          <a:xfrm>
            <a:off x="9482467" y="2804231"/>
            <a:ext cx="1152000" cy="393192"/>
          </a:xfrm>
          <a:prstGeom prst="roundRect">
            <a:avLst>
              <a:gd name="adj" fmla="val 11628"/>
            </a:avLst>
          </a:prstGeom>
          <a:solidFill>
            <a:srgbClr val="F2ECFA">
              <a:alpha val="10000"/>
            </a:srgbClr>
          </a:solidFill>
          <a:ln w="8255">
            <a:solidFill>
              <a:srgbClr val="C6B3DE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M7.1  Initiate conflicts check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M7.2  Perform conflicts / NDA search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M7.3  Investigate &amp; resolve conflicts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M7.4  Record conflict clearance</a:t>
            </a:r>
          </a:p>
        </p:txBody>
      </p:sp>
      <p:sp>
        <p:nvSpPr>
          <p:cNvPr id="350" name="Text 135">
            <a:extLst>
              <a:ext uri="{FF2B5EF4-FFF2-40B4-BE49-F238E27FC236}">
                <a16:creationId xmlns:a16="http://schemas.microsoft.com/office/drawing/2014/main" id="{410557B3-4059-9C24-0AEE-A4662C6791B3}"/>
              </a:ext>
            </a:extLst>
          </p:cNvPr>
          <p:cNvSpPr/>
          <p:nvPr/>
        </p:nvSpPr>
        <p:spPr>
          <a:xfrm>
            <a:off x="6044487" y="5974012"/>
            <a:ext cx="805296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World-Check, RDC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51" name="Text 136">
            <a:extLst>
              <a:ext uri="{FF2B5EF4-FFF2-40B4-BE49-F238E27FC236}">
                <a16:creationId xmlns:a16="http://schemas.microsoft.com/office/drawing/2014/main" id="{CA690066-B2AA-B7D1-B3D4-7759556A9B0F}"/>
              </a:ext>
            </a:extLst>
          </p:cNvPr>
          <p:cNvSpPr/>
          <p:nvPr/>
        </p:nvSpPr>
        <p:spPr>
          <a:xfrm>
            <a:off x="7152160" y="5974012"/>
            <a:ext cx="1063786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 err="1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NICEActimise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5" name="Text 66">
            <a:extLst>
              <a:ext uri="{FF2B5EF4-FFF2-40B4-BE49-F238E27FC236}">
                <a16:creationId xmlns:a16="http://schemas.microsoft.com/office/drawing/2014/main" id="{867BFC5B-7382-F6C2-0C1E-E7367835955C}"/>
              </a:ext>
            </a:extLst>
          </p:cNvPr>
          <p:cNvSpPr/>
          <p:nvPr/>
        </p:nvSpPr>
        <p:spPr>
          <a:xfrm>
            <a:off x="381000" y="5522094"/>
            <a:ext cx="77547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91" tIns="191" rIns="191" bIns="191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8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CREDIT</a:t>
            </a:r>
            <a:endParaRPr kumimoji="0" lang="en-US" sz="58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4" name="Text 99">
            <a:extLst>
              <a:ext uri="{FF2B5EF4-FFF2-40B4-BE49-F238E27FC236}">
                <a16:creationId xmlns:a16="http://schemas.microsoft.com/office/drawing/2014/main" id="{205311AE-5CB6-88ED-EDCE-8A47F485F65B}"/>
              </a:ext>
            </a:extLst>
          </p:cNvPr>
          <p:cNvSpPr/>
          <p:nvPr/>
        </p:nvSpPr>
        <p:spPr>
          <a:xfrm>
            <a:off x="2436115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sng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Assess credit</a:t>
            </a:r>
            <a:endParaRPr kumimoji="0" lang="en-US" sz="500" b="0" i="0" u="none" strike="sng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sng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need (parallel)</a:t>
            </a:r>
            <a:endParaRPr kumimoji="0" lang="en-US" sz="500" b="0" i="0" u="none" strike="sng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6" name="Text 101">
            <a:extLst>
              <a:ext uri="{FF2B5EF4-FFF2-40B4-BE49-F238E27FC236}">
                <a16:creationId xmlns:a16="http://schemas.microsoft.com/office/drawing/2014/main" id="{820D4803-8202-D530-C209-07C67AD4FF0F}"/>
              </a:ext>
            </a:extLst>
          </p:cNvPr>
          <p:cNvSpPr/>
          <p:nvPr/>
        </p:nvSpPr>
        <p:spPr>
          <a:xfrm>
            <a:off x="3395209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sng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C2.1 Determine credit</a:t>
            </a:r>
            <a:endParaRPr kumimoji="0" lang="en-US" sz="500" b="0" i="0" u="none" strike="sng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sng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requirement</a:t>
            </a:r>
            <a:endParaRPr kumimoji="0" lang="en-US" sz="500" b="0" i="0" u="none" strike="sng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8" name="Text 103">
            <a:extLst>
              <a:ext uri="{FF2B5EF4-FFF2-40B4-BE49-F238E27FC236}">
                <a16:creationId xmlns:a16="http://schemas.microsoft.com/office/drawing/2014/main" id="{0D4CB045-F233-E276-2429-21D85AB7992A}"/>
              </a:ext>
            </a:extLst>
          </p:cNvPr>
          <p:cNvSpPr/>
          <p:nvPr/>
        </p:nvSpPr>
        <p:spPr>
          <a:xfrm>
            <a:off x="4354303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sng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C2.2 Retrieve &amp; validate</a:t>
            </a:r>
            <a:endParaRPr kumimoji="0" lang="en-US" sz="500" b="0" i="0" u="none" strike="sng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sng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financial / exposure data</a:t>
            </a:r>
            <a:endParaRPr kumimoji="0" lang="en-US" sz="500" b="0" i="0" u="none" strike="sng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0" name="Text 105">
            <a:extLst>
              <a:ext uri="{FF2B5EF4-FFF2-40B4-BE49-F238E27FC236}">
                <a16:creationId xmlns:a16="http://schemas.microsoft.com/office/drawing/2014/main" id="{525CD8A1-8104-A30A-D868-13644149234C}"/>
              </a:ext>
            </a:extLst>
          </p:cNvPr>
          <p:cNvSpPr/>
          <p:nvPr/>
        </p:nvSpPr>
        <p:spPr>
          <a:xfrm>
            <a:off x="5313397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C2.3 Assess counterparty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credit risk</a:t>
            </a:r>
            <a:endParaRPr kumimoji="0" lang="en-US" sz="5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2" name="Text 107">
            <a:extLst>
              <a:ext uri="{FF2B5EF4-FFF2-40B4-BE49-F238E27FC236}">
                <a16:creationId xmlns:a16="http://schemas.microsoft.com/office/drawing/2014/main" id="{6C6E13C4-4254-EB6A-57E4-BBE55843AE4F}"/>
              </a:ext>
            </a:extLst>
          </p:cNvPr>
          <p:cNvSpPr/>
          <p:nvPr/>
        </p:nvSpPr>
        <p:spPr>
          <a:xfrm>
            <a:off x="6272491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C2.4 Determine credit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limit &amp; conditions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4" name="Text 109">
            <a:extLst>
              <a:ext uri="{FF2B5EF4-FFF2-40B4-BE49-F238E27FC236}">
                <a16:creationId xmlns:a16="http://schemas.microsoft.com/office/drawing/2014/main" id="{4D02B41D-0192-5711-B8D6-888D3B5542E2}"/>
              </a:ext>
            </a:extLst>
          </p:cNvPr>
          <p:cNvSpPr/>
          <p:nvPr/>
        </p:nvSpPr>
        <p:spPr>
          <a:xfrm>
            <a:off x="7231585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C2.5 </a:t>
            </a:r>
            <a:r>
              <a:rPr kumimoji="0" lang="en-US" sz="500" b="0" i="0" u="none" strike="sng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Obtain</a:t>
            </a: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credit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approval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6" name="Text 111">
            <a:extLst>
              <a:ext uri="{FF2B5EF4-FFF2-40B4-BE49-F238E27FC236}">
                <a16:creationId xmlns:a16="http://schemas.microsoft.com/office/drawing/2014/main" id="{0B350EF3-FAEE-8561-DE5D-CFAB40D5EA9D}"/>
              </a:ext>
            </a:extLst>
          </p:cNvPr>
          <p:cNvSpPr/>
          <p:nvPr/>
        </p:nvSpPr>
        <p:spPr>
          <a:xfrm>
            <a:off x="8190679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sng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C2.6 Provide Credit</a:t>
            </a:r>
            <a:endParaRPr kumimoji="0" lang="en-US" sz="500" b="0" i="0" u="none" strike="sng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sng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 data to Legal</a:t>
            </a:r>
            <a:endParaRPr kumimoji="0" lang="en-US" sz="500" b="0" i="0" u="none" strike="sng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28" name="Text 113">
            <a:extLst>
              <a:ext uri="{FF2B5EF4-FFF2-40B4-BE49-F238E27FC236}">
                <a16:creationId xmlns:a16="http://schemas.microsoft.com/office/drawing/2014/main" id="{6D919287-B17F-ABC4-C576-6D5AE049B33D}"/>
              </a:ext>
            </a:extLst>
          </p:cNvPr>
          <p:cNvSpPr/>
          <p:nvPr/>
        </p:nvSpPr>
        <p:spPr>
          <a:xfrm>
            <a:off x="9149772" y="5540382"/>
            <a:ext cx="720000" cy="310896"/>
          </a:xfrm>
          <a:prstGeom prst="roundRect">
            <a:avLst>
              <a:gd name="adj" fmla="val 14706"/>
            </a:avLst>
          </a:prstGeom>
          <a:solidFill>
            <a:srgbClr val="F2F7FD"/>
          </a:solidFill>
          <a:ln w="8255">
            <a:solidFill>
              <a:srgbClr val="A8C5E8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sng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C2.7 Review / approve final</a:t>
            </a:r>
            <a:endParaRPr kumimoji="0" lang="en-US" sz="500" b="0" i="0" u="none" strike="sng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sng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agreement &amp; data</a:t>
            </a:r>
            <a:endParaRPr kumimoji="0" lang="en-US" sz="500" b="0" i="0" u="none" strike="sng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85" name="Shape 170">
            <a:extLst>
              <a:ext uri="{FF2B5EF4-FFF2-40B4-BE49-F238E27FC236}">
                <a16:creationId xmlns:a16="http://schemas.microsoft.com/office/drawing/2014/main" id="{C5865F84-0E24-F2F4-4DDC-DD8E55CB3537}"/>
              </a:ext>
            </a:extLst>
          </p:cNvPr>
          <p:cNvSpPr/>
          <p:nvPr/>
        </p:nvSpPr>
        <p:spPr>
          <a:xfrm>
            <a:off x="3588115" y="4836291"/>
            <a:ext cx="5894347" cy="1"/>
          </a:xfrm>
          <a:prstGeom prst="line">
            <a:avLst/>
          </a:prstGeom>
          <a:noFill/>
          <a:ln w="10160">
            <a:solidFill>
              <a:srgbClr val="6F42C1"/>
            </a:solidFill>
            <a:prstDash val="dash"/>
            <a:headEnd type="none"/>
            <a:tailEnd type="triangle"/>
          </a:ln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8" name="Text 76">
            <a:extLst>
              <a:ext uri="{FF2B5EF4-FFF2-40B4-BE49-F238E27FC236}">
                <a16:creationId xmlns:a16="http://schemas.microsoft.com/office/drawing/2014/main" id="{C5072453-6A66-58FE-D126-8BCA3FDBD485}"/>
              </a:ext>
            </a:extLst>
          </p:cNvPr>
          <p:cNvSpPr/>
          <p:nvPr/>
        </p:nvSpPr>
        <p:spPr>
          <a:xfrm>
            <a:off x="3610507" y="2813661"/>
            <a:ext cx="1152000" cy="726790"/>
          </a:xfrm>
          <a:prstGeom prst="roundRect">
            <a:avLst>
              <a:gd name="adj" fmla="val 8679"/>
            </a:avLst>
          </a:prstGeom>
          <a:solidFill>
            <a:srgbClr val="DDECEF">
              <a:alpha val="10000"/>
            </a:srgbClr>
          </a:solidFill>
          <a:ln w="8255">
            <a:solidFill>
              <a:srgbClr val="A9CDBB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M2.1 Determine AML / KYC requirements &amp; applicable reliefs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M2.2 Determine non-AML requirements &amp; applicable exemption (With Legal if required)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M2.3 Consolidate requirements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M2.4 Apply risk rating, identify EDD indicators &amp; adjust requirements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M2.5  Issue client requirements</a:t>
            </a:r>
          </a:p>
        </p:txBody>
      </p:sp>
      <p:sp>
        <p:nvSpPr>
          <p:cNvPr id="20" name="Text 71">
            <a:extLst>
              <a:ext uri="{FF2B5EF4-FFF2-40B4-BE49-F238E27FC236}">
                <a16:creationId xmlns:a16="http://schemas.microsoft.com/office/drawing/2014/main" id="{369C8EF5-52F1-5590-A662-EE39E5AD0DCF}"/>
              </a:ext>
            </a:extLst>
          </p:cNvPr>
          <p:cNvSpPr/>
          <p:nvPr/>
        </p:nvSpPr>
        <p:spPr>
          <a:xfrm>
            <a:off x="2436115" y="2535399"/>
            <a:ext cx="1152000" cy="186068"/>
          </a:xfrm>
          <a:prstGeom prst="roundRect">
            <a:avLst>
              <a:gd name="adj" fmla="val 29541"/>
            </a:avLst>
          </a:prstGeom>
          <a:solidFill>
            <a:srgbClr val="DDECEF"/>
          </a:solidFill>
          <a:ln w="8255">
            <a:solidFill>
              <a:srgbClr val="A9CDBB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sng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M1.1 Submit onboarding request &amp; capture initial client / relationship </a:t>
            </a:r>
            <a:endParaRPr kumimoji="0" lang="en-US" sz="500" b="0" i="0" u="none" strike="sng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3EC85B4D-ACC3-A91B-1930-E2FC639CBD07}"/>
              </a:ext>
            </a:extLst>
          </p:cNvPr>
          <p:cNvCxnSpPr>
            <a:cxnSpLocks/>
            <a:stCxn id="344" idx="3"/>
            <a:endCxn id="65" idx="2"/>
          </p:cNvCxnSpPr>
          <p:nvPr/>
        </p:nvCxnSpPr>
        <p:spPr>
          <a:xfrm flipV="1">
            <a:off x="9869772" y="3373905"/>
            <a:ext cx="1360644" cy="1850622"/>
          </a:xfrm>
          <a:prstGeom prst="bentConnector2">
            <a:avLst/>
          </a:prstGeom>
          <a:noFill/>
          <a:ln w="10160">
            <a:solidFill>
              <a:srgbClr val="16883E"/>
            </a:solidFill>
            <a:prstDash val="dash"/>
            <a:headEnd type="none"/>
            <a:tailEnd type="triangle"/>
          </a:ln>
        </p:spPr>
      </p:cxnSp>
      <p:sp>
        <p:nvSpPr>
          <p:cNvPr id="65" name="Text 83">
            <a:extLst>
              <a:ext uri="{FF2B5EF4-FFF2-40B4-BE49-F238E27FC236}">
                <a16:creationId xmlns:a16="http://schemas.microsoft.com/office/drawing/2014/main" id="{78C20E69-D6ED-348E-F566-26C44B331826}"/>
              </a:ext>
            </a:extLst>
          </p:cNvPr>
          <p:cNvSpPr/>
          <p:nvPr/>
        </p:nvSpPr>
        <p:spPr>
          <a:xfrm>
            <a:off x="10654416" y="2813661"/>
            <a:ext cx="1152000" cy="560244"/>
          </a:xfrm>
          <a:prstGeom prst="roundRect">
            <a:avLst>
              <a:gd name="adj" fmla="val 6667"/>
            </a:avLst>
          </a:prstGeom>
          <a:solidFill>
            <a:srgbClr val="F2ECFA">
              <a:alpha val="10000"/>
            </a:srgbClr>
          </a:solidFill>
          <a:ln w="8255">
            <a:solidFill>
              <a:srgbClr val="C6B3D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M8.1  Confirm all required clearance prerequisites are complete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M8.2 </a:t>
            </a:r>
            <a:r>
              <a:rPr kumimoji="0" lang="en-US" sz="500" b="0" i="1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Finalise</a:t>
            </a: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onboarding case &amp; link supporting outputs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M8.3 Confirm / record cleared-to-trade status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M8.4 Record clearance timestamp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044281C-461E-B311-47CD-8E921ACAD86D}"/>
              </a:ext>
            </a:extLst>
          </p:cNvPr>
          <p:cNvCxnSpPr>
            <a:stCxn id="314" idx="3"/>
            <a:endCxn id="316" idx="1"/>
          </p:cNvCxnSpPr>
          <p:nvPr/>
        </p:nvCxnSpPr>
        <p:spPr>
          <a:xfrm>
            <a:off x="3156115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1FE8CC5-F692-F840-69D8-DEA170D3F7F8}"/>
              </a:ext>
            </a:extLst>
          </p:cNvPr>
          <p:cNvCxnSpPr>
            <a:cxnSpLocks/>
            <a:stCxn id="316" idx="3"/>
            <a:endCxn id="318" idx="1"/>
          </p:cNvCxnSpPr>
          <p:nvPr/>
        </p:nvCxnSpPr>
        <p:spPr>
          <a:xfrm>
            <a:off x="4115209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63623C2-67BE-702E-8859-44F02B7D3B72}"/>
              </a:ext>
            </a:extLst>
          </p:cNvPr>
          <p:cNvCxnSpPr>
            <a:cxnSpLocks/>
            <a:stCxn id="318" idx="3"/>
            <a:endCxn id="320" idx="1"/>
          </p:cNvCxnSpPr>
          <p:nvPr/>
        </p:nvCxnSpPr>
        <p:spPr>
          <a:xfrm>
            <a:off x="5074303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88BF3B5B-B0AC-1E55-201A-21B09314E929}"/>
              </a:ext>
            </a:extLst>
          </p:cNvPr>
          <p:cNvCxnSpPr>
            <a:cxnSpLocks/>
            <a:endCxn id="322" idx="1"/>
          </p:cNvCxnSpPr>
          <p:nvPr/>
        </p:nvCxnSpPr>
        <p:spPr>
          <a:xfrm>
            <a:off x="6033397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292B23BA-EA58-2F17-77CF-90FEC0C417DA}"/>
              </a:ext>
            </a:extLst>
          </p:cNvPr>
          <p:cNvCxnSpPr>
            <a:cxnSpLocks/>
          </p:cNvCxnSpPr>
          <p:nvPr/>
        </p:nvCxnSpPr>
        <p:spPr>
          <a:xfrm>
            <a:off x="6992491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105" name="Straight Arrow Connector 104">
            <a:extLst>
              <a:ext uri="{FF2B5EF4-FFF2-40B4-BE49-F238E27FC236}">
                <a16:creationId xmlns:a16="http://schemas.microsoft.com/office/drawing/2014/main" id="{435B50FA-B94F-E049-571C-456D1A6793F0}"/>
              </a:ext>
            </a:extLst>
          </p:cNvPr>
          <p:cNvCxnSpPr>
            <a:cxnSpLocks/>
          </p:cNvCxnSpPr>
          <p:nvPr/>
        </p:nvCxnSpPr>
        <p:spPr>
          <a:xfrm>
            <a:off x="7951585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106" name="Straight Arrow Connector 105">
            <a:extLst>
              <a:ext uri="{FF2B5EF4-FFF2-40B4-BE49-F238E27FC236}">
                <a16:creationId xmlns:a16="http://schemas.microsoft.com/office/drawing/2014/main" id="{788BC036-3DE5-E1A3-DEB7-34654E690D9E}"/>
              </a:ext>
            </a:extLst>
          </p:cNvPr>
          <p:cNvCxnSpPr>
            <a:cxnSpLocks/>
          </p:cNvCxnSpPr>
          <p:nvPr/>
        </p:nvCxnSpPr>
        <p:spPr>
          <a:xfrm>
            <a:off x="8910679" y="5695830"/>
            <a:ext cx="239094" cy="0"/>
          </a:xfrm>
          <a:prstGeom prst="straightConnector1">
            <a:avLst/>
          </a:prstGeom>
          <a:noFill/>
          <a:ln w="10160">
            <a:solidFill>
              <a:srgbClr val="2F5597"/>
            </a:solidFill>
            <a:prstDash val="dash"/>
            <a:headEnd type="none"/>
            <a:tailEnd type="triangle" w="sm" len="sm"/>
          </a:ln>
        </p:spPr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C6FF862D-24A2-BE2B-86CB-F31043F2B47C}"/>
              </a:ext>
            </a:extLst>
          </p:cNvPr>
          <p:cNvCxnSpPr>
            <a:cxnSpLocks/>
            <a:stCxn id="330" idx="3"/>
            <a:endCxn id="332" idx="1"/>
          </p:cNvCxnSpPr>
          <p:nvPr/>
        </p:nvCxnSpPr>
        <p:spPr>
          <a:xfrm>
            <a:off x="3156115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F9733173-FFE4-D480-B1AD-C22500CE83C8}"/>
              </a:ext>
            </a:extLst>
          </p:cNvPr>
          <p:cNvCxnSpPr>
            <a:cxnSpLocks/>
            <a:stCxn id="332" idx="3"/>
            <a:endCxn id="334" idx="1"/>
          </p:cNvCxnSpPr>
          <p:nvPr/>
        </p:nvCxnSpPr>
        <p:spPr>
          <a:xfrm>
            <a:off x="4115209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090D253-CDE4-2909-6337-C599A03A8AFD}"/>
              </a:ext>
            </a:extLst>
          </p:cNvPr>
          <p:cNvCxnSpPr>
            <a:cxnSpLocks/>
            <a:stCxn id="334" idx="3"/>
            <a:endCxn id="336" idx="1"/>
          </p:cNvCxnSpPr>
          <p:nvPr/>
        </p:nvCxnSpPr>
        <p:spPr>
          <a:xfrm>
            <a:off x="5074303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438249AB-80B3-DF53-C9C4-85D82F0F1D63}"/>
              </a:ext>
            </a:extLst>
          </p:cNvPr>
          <p:cNvCxnSpPr>
            <a:cxnSpLocks/>
          </p:cNvCxnSpPr>
          <p:nvPr/>
        </p:nvCxnSpPr>
        <p:spPr>
          <a:xfrm>
            <a:off x="6033397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31E2348C-D8B7-F6BB-2FBC-AF789AD17A9F}"/>
              </a:ext>
            </a:extLst>
          </p:cNvPr>
          <p:cNvCxnSpPr>
            <a:cxnSpLocks/>
          </p:cNvCxnSpPr>
          <p:nvPr/>
        </p:nvCxnSpPr>
        <p:spPr>
          <a:xfrm>
            <a:off x="6992491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B9B47D27-23A8-E498-DD33-E70DEBBD055C}"/>
              </a:ext>
            </a:extLst>
          </p:cNvPr>
          <p:cNvCxnSpPr>
            <a:cxnSpLocks/>
          </p:cNvCxnSpPr>
          <p:nvPr/>
        </p:nvCxnSpPr>
        <p:spPr>
          <a:xfrm>
            <a:off x="7951585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86E123DF-EDE7-CB0F-3297-2CD4C7C9BA42}"/>
              </a:ext>
            </a:extLst>
          </p:cNvPr>
          <p:cNvCxnSpPr>
            <a:cxnSpLocks/>
          </p:cNvCxnSpPr>
          <p:nvPr/>
        </p:nvCxnSpPr>
        <p:spPr>
          <a:xfrm>
            <a:off x="8910679" y="5224527"/>
            <a:ext cx="239094" cy="0"/>
          </a:xfrm>
          <a:prstGeom prst="straightConnector1">
            <a:avLst/>
          </a:prstGeom>
          <a:noFill/>
          <a:ln w="10160">
            <a:solidFill>
              <a:schemeClr val="accent3">
                <a:lumMod val="50000"/>
              </a:schemeClr>
            </a:solidFill>
            <a:prstDash val="dash"/>
            <a:headEnd type="none"/>
            <a:tailEnd type="triangle" w="sm" len="sm"/>
          </a:ln>
        </p:spPr>
      </p:cxnSp>
      <p:sp>
        <p:nvSpPr>
          <p:cNvPr id="45" name="Text 16">
            <a:extLst>
              <a:ext uri="{FF2B5EF4-FFF2-40B4-BE49-F238E27FC236}">
                <a16:creationId xmlns:a16="http://schemas.microsoft.com/office/drawing/2014/main" id="{35DA4192-7858-6E20-36CF-6530A400DF54}"/>
              </a:ext>
            </a:extLst>
          </p:cNvPr>
          <p:cNvSpPr/>
          <p:nvPr/>
        </p:nvSpPr>
        <p:spPr>
          <a:xfrm>
            <a:off x="3252290" y="2112514"/>
            <a:ext cx="755586" cy="329184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  <a:alpha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Respond to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requirements /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2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clarifications</a:t>
            </a:r>
            <a:endParaRPr kumimoji="0" lang="en-US" sz="5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38" name="Connector: Elbow 137">
            <a:extLst>
              <a:ext uri="{FF2B5EF4-FFF2-40B4-BE49-F238E27FC236}">
                <a16:creationId xmlns:a16="http://schemas.microsoft.com/office/drawing/2014/main" id="{56A1250D-4371-48F9-CFAD-7E9734010732}"/>
              </a:ext>
            </a:extLst>
          </p:cNvPr>
          <p:cNvCxnSpPr>
            <a:cxnSpLocks/>
            <a:stCxn id="312" idx="0"/>
            <a:endCxn id="47" idx="2"/>
          </p:cNvCxnSpPr>
          <p:nvPr/>
        </p:nvCxnSpPr>
        <p:spPr>
          <a:xfrm rot="16200000" flipV="1">
            <a:off x="8115613" y="861377"/>
            <a:ext cx="362533" cy="3523176"/>
          </a:xfrm>
          <a:prstGeom prst="bentConnector3">
            <a:avLst>
              <a:gd name="adj1" fmla="val 50000"/>
            </a:avLst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 w="sm" len="sm"/>
          </a:ln>
        </p:spPr>
      </p:cxnSp>
      <p:sp>
        <p:nvSpPr>
          <p:cNvPr id="161" name="Text 90">
            <a:extLst>
              <a:ext uri="{FF2B5EF4-FFF2-40B4-BE49-F238E27FC236}">
                <a16:creationId xmlns:a16="http://schemas.microsoft.com/office/drawing/2014/main" id="{D245F835-11F3-4E64-9B66-788BF03EE34F}"/>
              </a:ext>
            </a:extLst>
          </p:cNvPr>
          <p:cNvSpPr/>
          <p:nvPr/>
        </p:nvSpPr>
        <p:spPr>
          <a:xfrm>
            <a:off x="2037015" y="3896379"/>
            <a:ext cx="417561" cy="384048"/>
          </a:xfrm>
          <a:prstGeom prst="diamond">
            <a:avLst/>
          </a:prstGeom>
          <a:solidFill>
            <a:srgbClr val="FFF2CC"/>
          </a:solidFill>
          <a:ln w="8890">
            <a:solidFill>
              <a:srgbClr val="C18A2B"/>
            </a:solidFill>
          </a:ln>
        </p:spPr>
        <p:txBody>
          <a:bodyPr wrap="none" lIns="127" tIns="127" rIns="127" bIns="127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10" b="1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Credit required?</a:t>
            </a:r>
            <a:endParaRPr kumimoji="0" lang="en-US" sz="41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C22C49C7-5B2F-1138-1841-A98BC4221860}"/>
              </a:ext>
            </a:extLst>
          </p:cNvPr>
          <p:cNvCxnSpPr>
            <a:cxnSpLocks/>
            <a:stCxn id="161" idx="2"/>
            <a:endCxn id="330" idx="1"/>
          </p:cNvCxnSpPr>
          <p:nvPr/>
        </p:nvCxnSpPr>
        <p:spPr>
          <a:xfrm rot="16200000" flipH="1">
            <a:off x="1868905" y="4657317"/>
            <a:ext cx="944100" cy="190319"/>
          </a:xfrm>
          <a:prstGeom prst="bentConnector2">
            <a:avLst/>
          </a:prstGeom>
          <a:noFill/>
          <a:ln w="10160">
            <a:solidFill>
              <a:srgbClr val="16883E"/>
            </a:solidFill>
            <a:prstDash val="solid"/>
            <a:headEnd type="none"/>
            <a:tailEnd type="triangle"/>
          </a:ln>
        </p:spPr>
      </p:cxnSp>
      <p:cxnSp>
        <p:nvCxnSpPr>
          <p:cNvPr id="187" name="Connector: Elbow 186">
            <a:extLst>
              <a:ext uri="{FF2B5EF4-FFF2-40B4-BE49-F238E27FC236}">
                <a16:creationId xmlns:a16="http://schemas.microsoft.com/office/drawing/2014/main" id="{E165B3FA-CD59-A0AC-C276-8DD7722FC9E5}"/>
              </a:ext>
            </a:extLst>
          </p:cNvPr>
          <p:cNvCxnSpPr>
            <a:cxnSpLocks/>
            <a:stCxn id="328" idx="3"/>
            <a:endCxn id="65" idx="2"/>
          </p:cNvCxnSpPr>
          <p:nvPr/>
        </p:nvCxnSpPr>
        <p:spPr>
          <a:xfrm flipV="1">
            <a:off x="9869772" y="3373905"/>
            <a:ext cx="1360644" cy="2321925"/>
          </a:xfrm>
          <a:prstGeom prst="bentConnector2">
            <a:avLst/>
          </a:prstGeom>
          <a:noFill/>
          <a:ln w="10160">
            <a:solidFill>
              <a:srgbClr val="16883E"/>
            </a:solidFill>
            <a:prstDash val="dash"/>
            <a:headEnd type="none"/>
            <a:tailEnd type="triangle"/>
          </a:ln>
        </p:spPr>
      </p:cxnSp>
      <p:sp>
        <p:nvSpPr>
          <p:cNvPr id="268" name="Shape 47">
            <a:extLst>
              <a:ext uri="{FF2B5EF4-FFF2-40B4-BE49-F238E27FC236}">
                <a16:creationId xmlns:a16="http://schemas.microsoft.com/office/drawing/2014/main" id="{D362829F-AF7B-1BD1-DD1D-4BE0BB751DE2}"/>
              </a:ext>
            </a:extLst>
          </p:cNvPr>
          <p:cNvSpPr/>
          <p:nvPr/>
        </p:nvSpPr>
        <p:spPr>
          <a:xfrm>
            <a:off x="380998" y="5896997"/>
            <a:ext cx="11811002" cy="1"/>
          </a:xfrm>
          <a:prstGeom prst="line">
            <a:avLst/>
          </a:prstGeom>
          <a:noFill/>
          <a:ln w="10160">
            <a:solidFill>
              <a:srgbClr val="D9E3F0"/>
            </a:solidFill>
            <a:prstDash val="solid"/>
            <a:headEnd type="none"/>
            <a:tailEnd type="none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79" name="Text 70">
            <a:extLst>
              <a:ext uri="{FF2B5EF4-FFF2-40B4-BE49-F238E27FC236}">
                <a16:creationId xmlns:a16="http://schemas.microsoft.com/office/drawing/2014/main" id="{CB52F39A-E24E-77B4-16E3-79D5A959AB58}"/>
              </a:ext>
            </a:extLst>
          </p:cNvPr>
          <p:cNvSpPr/>
          <p:nvPr/>
        </p:nvSpPr>
        <p:spPr>
          <a:xfrm>
            <a:off x="1261723" y="2813661"/>
            <a:ext cx="1152000" cy="511629"/>
          </a:xfrm>
          <a:prstGeom prst="roundRect">
            <a:avLst>
              <a:gd name="adj" fmla="val 17741"/>
            </a:avLst>
          </a:prstGeom>
          <a:solidFill>
            <a:srgbClr val="F0F2F3">
              <a:alpha val="30000"/>
            </a:srgbClr>
          </a:solidFill>
          <a:ln w="8255">
            <a:solidFill>
              <a:schemeClr val="tx1">
                <a:lumMod val="75000"/>
              </a:schemeClr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M0.1 Determine sales location &amp; reporting / booking entity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M0.2 Confirm &amp; validate approved product / service scope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M0.3 Determine DD level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1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M0.4 Record booking model</a:t>
            </a:r>
          </a:p>
        </p:txBody>
      </p:sp>
      <p:sp>
        <p:nvSpPr>
          <p:cNvPr id="280" name="Text 71">
            <a:extLst>
              <a:ext uri="{FF2B5EF4-FFF2-40B4-BE49-F238E27FC236}">
                <a16:creationId xmlns:a16="http://schemas.microsoft.com/office/drawing/2014/main" id="{7646D6F4-163C-EEAC-116B-16EF902D6725}"/>
              </a:ext>
            </a:extLst>
          </p:cNvPr>
          <p:cNvSpPr/>
          <p:nvPr/>
        </p:nvSpPr>
        <p:spPr>
          <a:xfrm>
            <a:off x="2436115" y="3876746"/>
            <a:ext cx="1152000" cy="93497"/>
          </a:xfrm>
          <a:prstGeom prst="roundRect">
            <a:avLst>
              <a:gd name="adj" fmla="val 29541"/>
            </a:avLst>
          </a:prstGeom>
          <a:solidFill>
            <a:srgbClr val="DDECEF"/>
          </a:solidFill>
          <a:ln w="8255">
            <a:solidFill>
              <a:srgbClr val="A9CDBB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Resolve classification exceptions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81" name="Text 71">
            <a:extLst>
              <a:ext uri="{FF2B5EF4-FFF2-40B4-BE49-F238E27FC236}">
                <a16:creationId xmlns:a16="http://schemas.microsoft.com/office/drawing/2014/main" id="{5193D9CD-C670-144A-701F-04A358E7D3D8}"/>
              </a:ext>
            </a:extLst>
          </p:cNvPr>
          <p:cNvSpPr/>
          <p:nvPr/>
        </p:nvSpPr>
        <p:spPr>
          <a:xfrm>
            <a:off x="3621818" y="3876746"/>
            <a:ext cx="1152000" cy="93497"/>
          </a:xfrm>
          <a:prstGeom prst="roundRect">
            <a:avLst>
              <a:gd name="adj" fmla="val 29541"/>
            </a:avLst>
          </a:prstGeom>
          <a:solidFill>
            <a:srgbClr val="DDECEF"/>
          </a:solidFill>
          <a:ln w="8255">
            <a:solidFill>
              <a:srgbClr val="A9CDBB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Resolve complex info gaps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288" name="Connector: Elbow 287">
            <a:extLst>
              <a:ext uri="{FF2B5EF4-FFF2-40B4-BE49-F238E27FC236}">
                <a16:creationId xmlns:a16="http://schemas.microsoft.com/office/drawing/2014/main" id="{0F0FF03D-21C1-BF46-55A0-54B69AC89D3D}"/>
              </a:ext>
            </a:extLst>
          </p:cNvPr>
          <p:cNvCxnSpPr>
            <a:cxnSpLocks/>
            <a:endCxn id="280" idx="0"/>
          </p:cNvCxnSpPr>
          <p:nvPr/>
        </p:nvCxnSpPr>
        <p:spPr>
          <a:xfrm rot="5400000">
            <a:off x="2676184" y="3540809"/>
            <a:ext cx="671869" cy="5"/>
          </a:xfrm>
          <a:prstGeom prst="bentConnector3">
            <a:avLst>
              <a:gd name="adj1" fmla="val 50000"/>
            </a:avLst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 w="sm" len="sm"/>
          </a:ln>
        </p:spPr>
      </p:cxnSp>
      <p:cxnSp>
        <p:nvCxnSpPr>
          <p:cNvPr id="371" name="Connector: Elbow 370">
            <a:extLst>
              <a:ext uri="{FF2B5EF4-FFF2-40B4-BE49-F238E27FC236}">
                <a16:creationId xmlns:a16="http://schemas.microsoft.com/office/drawing/2014/main" id="{86BE0C46-1B40-3E3F-3C9E-E5149BC2B251}"/>
              </a:ext>
            </a:extLst>
          </p:cNvPr>
          <p:cNvCxnSpPr>
            <a:cxnSpLocks/>
            <a:stCxn id="18" idx="2"/>
            <a:endCxn id="281" idx="0"/>
          </p:cNvCxnSpPr>
          <p:nvPr/>
        </p:nvCxnSpPr>
        <p:spPr>
          <a:xfrm rot="16200000" flipH="1">
            <a:off x="4024015" y="3702942"/>
            <a:ext cx="336295" cy="11311"/>
          </a:xfrm>
          <a:prstGeom prst="bentConnector3">
            <a:avLst>
              <a:gd name="adj1" fmla="val 50000"/>
            </a:avLst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 w="sm" len="sm"/>
          </a:ln>
        </p:spPr>
      </p:cxnSp>
      <p:sp>
        <p:nvSpPr>
          <p:cNvPr id="376" name="Text 71">
            <a:extLst>
              <a:ext uri="{FF2B5EF4-FFF2-40B4-BE49-F238E27FC236}">
                <a16:creationId xmlns:a16="http://schemas.microsoft.com/office/drawing/2014/main" id="{9AA98EDE-9FB8-3066-D507-84264E6BF4D9}"/>
              </a:ext>
            </a:extLst>
          </p:cNvPr>
          <p:cNvSpPr/>
          <p:nvPr/>
        </p:nvSpPr>
        <p:spPr>
          <a:xfrm>
            <a:off x="5959291" y="3876746"/>
            <a:ext cx="1152000" cy="93497"/>
          </a:xfrm>
          <a:prstGeom prst="roundRect">
            <a:avLst>
              <a:gd name="adj" fmla="val 29541"/>
            </a:avLst>
          </a:prstGeom>
          <a:solidFill>
            <a:srgbClr val="DDECEF"/>
          </a:solidFill>
          <a:ln w="8255">
            <a:solidFill>
              <a:srgbClr val="A9CDBB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Review ambiguous screening hits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377" name="Connector: Elbow 376">
            <a:extLst>
              <a:ext uri="{FF2B5EF4-FFF2-40B4-BE49-F238E27FC236}">
                <a16:creationId xmlns:a16="http://schemas.microsoft.com/office/drawing/2014/main" id="{EE45B707-BF67-C8F4-EF72-83C4F7F4689F}"/>
              </a:ext>
            </a:extLst>
          </p:cNvPr>
          <p:cNvCxnSpPr>
            <a:cxnSpLocks/>
            <a:stCxn id="296" idx="2"/>
            <a:endCxn id="376" idx="0"/>
          </p:cNvCxnSpPr>
          <p:nvPr/>
        </p:nvCxnSpPr>
        <p:spPr>
          <a:xfrm rot="5400000">
            <a:off x="6281263" y="3622717"/>
            <a:ext cx="508057" cy="12700"/>
          </a:xfrm>
          <a:prstGeom prst="bentConnector3">
            <a:avLst>
              <a:gd name="adj1" fmla="val 50000"/>
            </a:avLst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 w="sm" len="sm"/>
          </a:ln>
        </p:spPr>
      </p:cxnSp>
      <p:sp>
        <p:nvSpPr>
          <p:cNvPr id="392" name="Text 71">
            <a:extLst>
              <a:ext uri="{FF2B5EF4-FFF2-40B4-BE49-F238E27FC236}">
                <a16:creationId xmlns:a16="http://schemas.microsoft.com/office/drawing/2014/main" id="{875E1F12-3AD5-670D-5ED1-9F19DA14BDD1}"/>
              </a:ext>
            </a:extLst>
          </p:cNvPr>
          <p:cNvSpPr/>
          <p:nvPr/>
        </p:nvSpPr>
        <p:spPr>
          <a:xfrm>
            <a:off x="7145171" y="3876746"/>
            <a:ext cx="1152000" cy="93497"/>
          </a:xfrm>
          <a:prstGeom prst="roundRect">
            <a:avLst>
              <a:gd name="adj" fmla="val 29541"/>
            </a:avLst>
          </a:prstGeom>
          <a:solidFill>
            <a:srgbClr val="DDECEF"/>
          </a:solidFill>
          <a:ln w="8255">
            <a:solidFill>
              <a:srgbClr val="A9CDBB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Support evidence gaps where needed</a:t>
            </a:r>
            <a:endParaRPr kumimoji="0" lang="en-US" sz="5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393" name="Connector: Elbow 392">
            <a:extLst>
              <a:ext uri="{FF2B5EF4-FFF2-40B4-BE49-F238E27FC236}">
                <a16:creationId xmlns:a16="http://schemas.microsoft.com/office/drawing/2014/main" id="{5F9685D1-6C4A-6FB0-BCF7-F4AA67903D0E}"/>
              </a:ext>
            </a:extLst>
          </p:cNvPr>
          <p:cNvCxnSpPr>
            <a:cxnSpLocks/>
            <a:stCxn id="297" idx="2"/>
            <a:endCxn id="392" idx="0"/>
          </p:cNvCxnSpPr>
          <p:nvPr/>
        </p:nvCxnSpPr>
        <p:spPr>
          <a:xfrm rot="16200000" flipH="1">
            <a:off x="7537223" y="3692797"/>
            <a:ext cx="356409" cy="11488"/>
          </a:xfrm>
          <a:prstGeom prst="bentConnector3">
            <a:avLst>
              <a:gd name="adj1" fmla="val 50000"/>
            </a:avLst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 w="sm" len="sm"/>
          </a:ln>
        </p:spPr>
      </p:cxnSp>
      <p:sp>
        <p:nvSpPr>
          <p:cNvPr id="409" name="Text 71">
            <a:extLst>
              <a:ext uri="{FF2B5EF4-FFF2-40B4-BE49-F238E27FC236}">
                <a16:creationId xmlns:a16="http://schemas.microsoft.com/office/drawing/2014/main" id="{DDDB1B56-D282-A029-72C0-136DE7E33EF7}"/>
              </a:ext>
            </a:extLst>
          </p:cNvPr>
          <p:cNvSpPr/>
          <p:nvPr/>
        </p:nvSpPr>
        <p:spPr>
          <a:xfrm>
            <a:off x="5964887" y="4292085"/>
            <a:ext cx="1152000" cy="93497"/>
          </a:xfrm>
          <a:prstGeom prst="roundRect">
            <a:avLst>
              <a:gd name="adj" fmla="val 29541"/>
            </a:avLst>
          </a:prstGeom>
          <a:solidFill>
            <a:srgbClr val="FFF1E8"/>
          </a:solidFill>
          <a:ln w="8255">
            <a:solidFill>
              <a:srgbClr val="F2B58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Adjudicate material screening finding </a:t>
            </a:r>
          </a:p>
        </p:txBody>
      </p:sp>
      <p:sp>
        <p:nvSpPr>
          <p:cNvPr id="410" name="Text 71">
            <a:extLst>
              <a:ext uri="{FF2B5EF4-FFF2-40B4-BE49-F238E27FC236}">
                <a16:creationId xmlns:a16="http://schemas.microsoft.com/office/drawing/2014/main" id="{A66B877F-8012-0BDF-91C6-11FE24E90E6F}"/>
              </a:ext>
            </a:extLst>
          </p:cNvPr>
          <p:cNvSpPr/>
          <p:nvPr/>
        </p:nvSpPr>
        <p:spPr>
          <a:xfrm>
            <a:off x="7139338" y="4153230"/>
            <a:ext cx="1152000" cy="371210"/>
          </a:xfrm>
          <a:prstGeom prst="roundRect">
            <a:avLst>
              <a:gd name="adj" fmla="val 14145"/>
            </a:avLst>
          </a:prstGeom>
          <a:solidFill>
            <a:srgbClr val="FFF1E8"/>
          </a:solidFill>
          <a:ln w="8255">
            <a:solidFill>
              <a:srgbClr val="F2B58E"/>
            </a:solidFill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M5.9 Perform EDD judgment and risk assessment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" b="0" i="0" u="none" strike="noStrike" kern="1200" cap="none" spc="0" normalizeH="0" baseline="0" noProof="0" dirty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M5.10 Approve EDD outcome and conditions</a:t>
            </a:r>
          </a:p>
        </p:txBody>
      </p:sp>
      <p:sp>
        <p:nvSpPr>
          <p:cNvPr id="3" name="Text 136">
            <a:extLst>
              <a:ext uri="{FF2B5EF4-FFF2-40B4-BE49-F238E27FC236}">
                <a16:creationId xmlns:a16="http://schemas.microsoft.com/office/drawing/2014/main" id="{86E833E7-7D82-E915-9EC9-9E3A97549530}"/>
              </a:ext>
            </a:extLst>
          </p:cNvPr>
          <p:cNvSpPr/>
          <p:nvPr/>
        </p:nvSpPr>
        <p:spPr>
          <a:xfrm>
            <a:off x="9546256" y="5974012"/>
            <a:ext cx="1063786" cy="347472"/>
          </a:xfrm>
          <a:prstGeom prst="roundRect">
            <a:avLst>
              <a:gd name="adj" fmla="val 13158"/>
            </a:avLst>
          </a:prstGeom>
          <a:noFill/>
          <a:ln w="8255">
            <a:noFill/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" b="0" i="0" u="none" strike="noStrike" kern="1200" cap="none" spc="0" normalizeH="0" baseline="0" noProof="0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Docusign, </a:t>
            </a:r>
            <a:r>
              <a:rPr kumimoji="0" lang="en-US" sz="420" b="0" i="0" u="none" strike="noStrike" kern="1200" cap="none" spc="0" normalizeH="0" baseline="0" noProof="0" err="1">
                <a:ln>
                  <a:noFill/>
                </a:ln>
                <a:solidFill>
                  <a:srgbClr val="08204A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iManage</a:t>
            </a:r>
            <a:endParaRPr kumimoji="0" lang="en-US" sz="42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088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E07FA-5654-CB4B-9D8B-3C5B70094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5DAC-1E9C-B154-4331-6892AB5E5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33375"/>
            <a:ext cx="11430000" cy="424732"/>
          </a:xfrm>
        </p:spPr>
        <p:txBody>
          <a:bodyPr/>
          <a:lstStyle/>
          <a:p>
            <a:r>
              <a:rPr lang="en-US" altLang="zh-CN" sz="2400" dirty="0"/>
              <a:t>Build from Process Map </a:t>
            </a:r>
            <a:r>
              <a:rPr lang="zh-CN" altLang="en-US" sz="2400" dirty="0"/>
              <a:t>→ </a:t>
            </a:r>
            <a:r>
              <a:rPr lang="en-US" altLang="zh-CN" sz="2400" dirty="0"/>
              <a:t>User Journey</a:t>
            </a:r>
            <a:r>
              <a:rPr lang="zh-CN" altLang="en-US" sz="2400" dirty="0"/>
              <a:t> → </a:t>
            </a:r>
            <a:r>
              <a:rPr lang="en-US" altLang="zh-CN" sz="2400" dirty="0"/>
              <a:t>Product Requirement</a:t>
            </a:r>
            <a:endParaRPr lang="en-US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0ABB5-186B-CE54-607E-A942EBDFB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400800"/>
            <a:ext cx="4114800" cy="3048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 dirty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D745C-3744-BB41-D442-61BAE8EB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D39823-8059-4D49-BD26-6D32C31B8621}" type="slidenum">
              <a:rPr kumimoji="0" lang="en-AU" sz="800" b="0" i="0" u="none" strike="noStrike" kern="1200" cap="none" spc="0" normalizeH="0" baseline="0" noProof="0" smtClean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AU" sz="800" b="0" i="0" u="none" strike="noStrike" kern="1200" cap="none" spc="0" normalizeH="0" baseline="0" noProof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E69E339-3E03-9FEC-DBCE-957627802560}"/>
              </a:ext>
            </a:extLst>
          </p:cNvPr>
          <p:cNvSpPr/>
          <p:nvPr/>
        </p:nvSpPr>
        <p:spPr>
          <a:xfrm>
            <a:off x="507822" y="1367795"/>
            <a:ext cx="1792317" cy="715527"/>
          </a:xfrm>
          <a:prstGeom prst="roundRect">
            <a:avLst>
              <a:gd name="adj" fmla="val 13889"/>
            </a:avLst>
          </a:prstGeom>
          <a:solidFill>
            <a:schemeClr val="bg2">
              <a:lumMod val="60000"/>
              <a:lumOff val="4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Process Map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2" name="Text 15">
            <a:extLst>
              <a:ext uri="{FF2B5EF4-FFF2-40B4-BE49-F238E27FC236}">
                <a16:creationId xmlns:a16="http://schemas.microsoft.com/office/drawing/2014/main" id="{3243F394-5D1A-9BBA-8C96-A48CF9799001}"/>
              </a:ext>
            </a:extLst>
          </p:cNvPr>
          <p:cNvSpPr/>
          <p:nvPr/>
        </p:nvSpPr>
        <p:spPr>
          <a:xfrm>
            <a:off x="4393237" y="1367795"/>
            <a:ext cx="1792317" cy="715527"/>
          </a:xfrm>
          <a:prstGeom prst="roundRect">
            <a:avLst>
              <a:gd name="adj" fmla="val 13889"/>
            </a:avLst>
          </a:prstGeom>
          <a:solidFill>
            <a:schemeClr val="bg2">
              <a:lumMod val="75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Role-based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User Journey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42813D6C-AB7D-67EC-1DA6-BDFF8217D428}"/>
              </a:ext>
            </a:extLst>
          </p:cNvPr>
          <p:cNvSpPr/>
          <p:nvPr/>
        </p:nvSpPr>
        <p:spPr>
          <a:xfrm>
            <a:off x="8427909" y="1367794"/>
            <a:ext cx="1792317" cy="715527"/>
          </a:xfrm>
          <a:prstGeom prst="roundRect">
            <a:avLst>
              <a:gd name="adj" fmla="val 13889"/>
            </a:avLst>
          </a:prstGeom>
          <a:solidFill>
            <a:schemeClr val="bg2">
              <a:lumMod val="50000"/>
            </a:schemeClr>
          </a:solidFill>
          <a:ln w="8255">
            <a:solidFill>
              <a:srgbClr val="9AB6E1"/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Product Requirement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(Hypotheses)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4" name="Text 71">
            <a:extLst>
              <a:ext uri="{FF2B5EF4-FFF2-40B4-BE49-F238E27FC236}">
                <a16:creationId xmlns:a16="http://schemas.microsoft.com/office/drawing/2014/main" id="{FC175983-BA8B-1821-A599-9A1C83B63A6A}"/>
              </a:ext>
            </a:extLst>
          </p:cNvPr>
          <p:cNvSpPr/>
          <p:nvPr/>
        </p:nvSpPr>
        <p:spPr>
          <a:xfrm>
            <a:off x="468013" y="2418296"/>
            <a:ext cx="1871934" cy="320482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What activities happen, by whom, and in what sequence?</a:t>
            </a:r>
          </a:p>
        </p:txBody>
      </p:sp>
      <p:sp>
        <p:nvSpPr>
          <p:cNvPr id="28" name="Text 71">
            <a:extLst>
              <a:ext uri="{FF2B5EF4-FFF2-40B4-BE49-F238E27FC236}">
                <a16:creationId xmlns:a16="http://schemas.microsoft.com/office/drawing/2014/main" id="{2C55EB9B-0FFC-AEE4-60BB-FFB0BA4257A7}"/>
              </a:ext>
            </a:extLst>
          </p:cNvPr>
          <p:cNvSpPr/>
          <p:nvPr/>
        </p:nvSpPr>
        <p:spPr>
          <a:xfrm>
            <a:off x="4189244" y="2258454"/>
            <a:ext cx="2200302" cy="640165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What does each user try to achieve, what do they experience, what do they see, where do they wait, and how does the product change their work?</a:t>
            </a:r>
          </a:p>
        </p:txBody>
      </p:sp>
      <p:sp>
        <p:nvSpPr>
          <p:cNvPr id="29" name="Text 71">
            <a:extLst>
              <a:ext uri="{FF2B5EF4-FFF2-40B4-BE49-F238E27FC236}">
                <a16:creationId xmlns:a16="http://schemas.microsoft.com/office/drawing/2014/main" id="{632C2130-7775-D740-A80A-E792AE1F6EB2}"/>
              </a:ext>
            </a:extLst>
          </p:cNvPr>
          <p:cNvSpPr/>
          <p:nvPr/>
        </p:nvSpPr>
        <p:spPr>
          <a:xfrm>
            <a:off x="8223916" y="2418294"/>
            <a:ext cx="2200302" cy="320482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What must the product know, decide, execute, present, record and escalate?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0CF0706F-0B03-3FF2-9623-25ACB46A0445}"/>
              </a:ext>
            </a:extLst>
          </p:cNvPr>
          <p:cNvSpPr/>
          <p:nvPr/>
        </p:nvSpPr>
        <p:spPr>
          <a:xfrm>
            <a:off x="3167272" y="1615131"/>
            <a:ext cx="358832" cy="22085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err="1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BB9C7AF5-0C8E-2D36-2E11-249B5805A33D}"/>
              </a:ext>
            </a:extLst>
          </p:cNvPr>
          <p:cNvSpPr/>
          <p:nvPr/>
        </p:nvSpPr>
        <p:spPr>
          <a:xfrm>
            <a:off x="7297784" y="1615131"/>
            <a:ext cx="358832" cy="220852"/>
          </a:xfrm>
          <a:prstGeom prst="rightArrow">
            <a:avLst/>
          </a:prstGeom>
          <a:solidFill>
            <a:schemeClr val="tx1"/>
          </a:solidFill>
          <a:ln w="9525">
            <a:solidFill>
              <a:schemeClr val="tx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 err="1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0BD1DC71-F6E1-08A9-565A-5DFD9C537EA8}"/>
              </a:ext>
            </a:extLst>
          </p:cNvPr>
          <p:cNvCxnSpPr>
            <a:cxnSpLocks/>
            <a:stCxn id="24" idx="2"/>
            <a:endCxn id="28" idx="2"/>
          </p:cNvCxnSpPr>
          <p:nvPr/>
        </p:nvCxnSpPr>
        <p:spPr>
          <a:xfrm rot="16200000" flipH="1">
            <a:off x="3266767" y="875990"/>
            <a:ext cx="159841" cy="3885415"/>
          </a:xfrm>
          <a:prstGeom prst="bentConnector3">
            <a:avLst>
              <a:gd name="adj1" fmla="val 243017"/>
            </a:avLst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 w="sm" len="sm"/>
          </a:ln>
        </p:spPr>
      </p:cxnSp>
      <p:sp>
        <p:nvSpPr>
          <p:cNvPr id="56" name="Text 71">
            <a:extLst>
              <a:ext uri="{FF2B5EF4-FFF2-40B4-BE49-F238E27FC236}">
                <a16:creationId xmlns:a16="http://schemas.microsoft.com/office/drawing/2014/main" id="{F34938A5-9888-7620-59CE-D8E80A2FD652}"/>
              </a:ext>
            </a:extLst>
          </p:cNvPr>
          <p:cNvSpPr/>
          <p:nvPr/>
        </p:nvSpPr>
        <p:spPr>
          <a:xfrm>
            <a:off x="2521303" y="3450868"/>
            <a:ext cx="1871934" cy="176625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Step1</a:t>
            </a:r>
            <a:endParaRPr kumimoji="0" lang="en-US" sz="1100" b="1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57" name="Text 15">
            <a:extLst>
              <a:ext uri="{FF2B5EF4-FFF2-40B4-BE49-F238E27FC236}">
                <a16:creationId xmlns:a16="http://schemas.microsoft.com/office/drawing/2014/main" id="{0D516CA3-4167-6561-BF81-4034C3B3793E}"/>
              </a:ext>
            </a:extLst>
          </p:cNvPr>
          <p:cNvSpPr/>
          <p:nvPr/>
        </p:nvSpPr>
        <p:spPr>
          <a:xfrm>
            <a:off x="6581041" y="3269729"/>
            <a:ext cx="1792317" cy="715527"/>
          </a:xfrm>
          <a:prstGeom prst="roundRect">
            <a:avLst>
              <a:gd name="adj" fmla="val 13889"/>
            </a:avLst>
          </a:prstGeom>
          <a:solidFill>
            <a:srgbClr val="DACEEA"/>
          </a:solidFill>
          <a:ln w="8255">
            <a:solidFill>
              <a:schemeClr val="bg1">
                <a:lumMod val="25000"/>
                <a:lumOff val="75000"/>
              </a:schemeClr>
            </a:solidFill>
            <a:prstDash val="solid"/>
          </a:ln>
        </p:spPr>
        <p:txBody>
          <a:bodyPr wrap="square" lIns="381" tIns="381" rIns="381" bIns="381" rtlCol="0" anchor="ctr">
            <a:no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Agentic Operating Model</a:t>
            </a: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9DC5C952-1B9D-6937-9F00-68758349CFD8}"/>
              </a:ext>
            </a:extLst>
          </p:cNvPr>
          <p:cNvCxnSpPr>
            <a:cxnSpLocks/>
            <a:endCxn id="57" idx="1"/>
          </p:cNvCxnSpPr>
          <p:nvPr/>
        </p:nvCxnSpPr>
        <p:spPr>
          <a:xfrm>
            <a:off x="5562600" y="2934982"/>
            <a:ext cx="1018441" cy="692511"/>
          </a:xfrm>
          <a:prstGeom prst="bentConnector3">
            <a:avLst>
              <a:gd name="adj1" fmla="val 17"/>
            </a:avLst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 w="sm" len="sm"/>
          </a:ln>
        </p:spPr>
      </p:cxnSp>
      <p:sp>
        <p:nvSpPr>
          <p:cNvPr id="62" name="Text 71">
            <a:extLst>
              <a:ext uri="{FF2B5EF4-FFF2-40B4-BE49-F238E27FC236}">
                <a16:creationId xmlns:a16="http://schemas.microsoft.com/office/drawing/2014/main" id="{93238421-3EED-DEE0-BBB6-42D30FF182A7}"/>
              </a:ext>
            </a:extLst>
          </p:cNvPr>
          <p:cNvSpPr/>
          <p:nvPr/>
        </p:nvSpPr>
        <p:spPr>
          <a:xfrm>
            <a:off x="5562599" y="3757281"/>
            <a:ext cx="1018441" cy="176625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Step2</a:t>
            </a:r>
            <a:endParaRPr kumimoji="0" lang="en-US" sz="1100" b="1" i="1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F0AF128C-DB0D-7A02-3818-9AF2FD1B7F8F}"/>
              </a:ext>
            </a:extLst>
          </p:cNvPr>
          <p:cNvCxnSpPr>
            <a:cxnSpLocks/>
            <a:stCxn id="57" idx="3"/>
            <a:endCxn id="29" idx="2"/>
          </p:cNvCxnSpPr>
          <p:nvPr/>
        </p:nvCxnSpPr>
        <p:spPr>
          <a:xfrm flipV="1">
            <a:off x="8373358" y="2738776"/>
            <a:ext cx="950709" cy="888717"/>
          </a:xfrm>
          <a:prstGeom prst="bentConnector2">
            <a:avLst/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 w="sm" len="sm"/>
          </a:ln>
        </p:spPr>
      </p:cxnSp>
      <p:sp>
        <p:nvSpPr>
          <p:cNvPr id="67" name="Text 71">
            <a:extLst>
              <a:ext uri="{FF2B5EF4-FFF2-40B4-BE49-F238E27FC236}">
                <a16:creationId xmlns:a16="http://schemas.microsoft.com/office/drawing/2014/main" id="{06158196-783C-8779-78BD-DD4E6B1ADCD1}"/>
              </a:ext>
            </a:extLst>
          </p:cNvPr>
          <p:cNvSpPr/>
          <p:nvPr/>
        </p:nvSpPr>
        <p:spPr>
          <a:xfrm>
            <a:off x="8284945" y="3757281"/>
            <a:ext cx="1018441" cy="176625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Step3</a:t>
            </a:r>
            <a:endParaRPr kumimoji="0" lang="en-US" sz="1100" b="1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8" name="Rectangle: Diagonal Corners Rounded 67">
            <a:extLst>
              <a:ext uri="{FF2B5EF4-FFF2-40B4-BE49-F238E27FC236}">
                <a16:creationId xmlns:a16="http://schemas.microsoft.com/office/drawing/2014/main" id="{E30B8C63-8B5E-2E0A-DD6C-5125480D6951}"/>
              </a:ext>
            </a:extLst>
          </p:cNvPr>
          <p:cNvSpPr/>
          <p:nvPr/>
        </p:nvSpPr>
        <p:spPr>
          <a:xfrm>
            <a:off x="2007909" y="1282045"/>
            <a:ext cx="513394" cy="159842"/>
          </a:xfrm>
          <a:prstGeom prst="round2DiagRect">
            <a:avLst/>
          </a:prstGeom>
          <a:solidFill>
            <a:schemeClr val="accent4">
              <a:lumMod val="40000"/>
              <a:lumOff val="60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Now</a:t>
            </a:r>
            <a:endParaRPr lang="zh-CN" altLang="en-US" sz="1000" dirty="0" err="1"/>
          </a:p>
        </p:txBody>
      </p: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40318676-CCA0-FFEB-475E-23AFB6EF43C5}"/>
              </a:ext>
            </a:extLst>
          </p:cNvPr>
          <p:cNvCxnSpPr>
            <a:cxnSpLocks/>
            <a:stCxn id="22" idx="0"/>
            <a:endCxn id="23" idx="0"/>
          </p:cNvCxnSpPr>
          <p:nvPr/>
        </p:nvCxnSpPr>
        <p:spPr>
          <a:xfrm rot="5400000" flipH="1" flipV="1">
            <a:off x="7306732" y="-649541"/>
            <a:ext cx="1" cy="4034672"/>
          </a:xfrm>
          <a:prstGeom prst="bentConnector3">
            <a:avLst>
              <a:gd name="adj1" fmla="val 22860100000"/>
            </a:avLst>
          </a:prstGeom>
          <a:noFill/>
          <a:ln w="10160">
            <a:solidFill>
              <a:srgbClr val="FF0000"/>
            </a:solidFill>
            <a:prstDash val="dash"/>
            <a:headEnd type="none"/>
            <a:tailEnd type="triangle" w="sm" len="sm"/>
          </a:ln>
        </p:spPr>
      </p:cxnSp>
      <p:sp>
        <p:nvSpPr>
          <p:cNvPr id="80" name="Text 71">
            <a:extLst>
              <a:ext uri="{FF2B5EF4-FFF2-40B4-BE49-F238E27FC236}">
                <a16:creationId xmlns:a16="http://schemas.microsoft.com/office/drawing/2014/main" id="{8362EB97-BE64-80EA-62B7-6C0A74FD4588}"/>
              </a:ext>
            </a:extLst>
          </p:cNvPr>
          <p:cNvSpPr/>
          <p:nvPr/>
        </p:nvSpPr>
        <p:spPr>
          <a:xfrm>
            <a:off x="8223916" y="808445"/>
            <a:ext cx="1018441" cy="176625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1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Step3</a:t>
            </a:r>
            <a:endParaRPr kumimoji="0" lang="en-US" sz="1100" b="1" i="1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Text 5">
            <a:extLst>
              <a:ext uri="{FF2B5EF4-FFF2-40B4-BE49-F238E27FC236}">
                <a16:creationId xmlns:a16="http://schemas.microsoft.com/office/drawing/2014/main" id="{97938578-1414-4F68-8D92-81C076756ED9}"/>
              </a:ext>
            </a:extLst>
          </p:cNvPr>
          <p:cNvSpPr/>
          <p:nvPr/>
        </p:nvSpPr>
        <p:spPr>
          <a:xfrm>
            <a:off x="1692969" y="4170436"/>
            <a:ext cx="5230101" cy="459714"/>
          </a:xfrm>
          <a:prstGeom prst="roundRect">
            <a:avLst>
              <a:gd name="adj" fmla="val 14545"/>
            </a:avLst>
          </a:prstGeom>
          <a:solidFill>
            <a:srgbClr val="F0F2F3"/>
          </a:solidFill>
          <a:ln>
            <a:solidFill>
              <a:srgbClr val="F0F2F3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68737D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Recommended Deliverables for Workshop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Text 5">
            <a:extLst>
              <a:ext uri="{FF2B5EF4-FFF2-40B4-BE49-F238E27FC236}">
                <a16:creationId xmlns:a16="http://schemas.microsoft.com/office/drawing/2014/main" id="{FE6C2D01-1D4B-2441-C6B5-DE544C4A4EE8}"/>
              </a:ext>
            </a:extLst>
          </p:cNvPr>
          <p:cNvSpPr/>
          <p:nvPr/>
        </p:nvSpPr>
        <p:spPr>
          <a:xfrm>
            <a:off x="7252073" y="4173950"/>
            <a:ext cx="4128506" cy="459714"/>
          </a:xfrm>
          <a:prstGeom prst="roundRect">
            <a:avLst>
              <a:gd name="adj" fmla="val 14545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F0F2F3"/>
            </a:solidFill>
          </a:ln>
        </p:spPr>
        <p:txBody>
          <a:bodyPr wrap="square" lIns="36000" tIns="0" rIns="3600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Product Detail </a:t>
            </a:r>
            <a:r>
              <a:rPr kumimoji="0" lang="en-US" altLang="zh-CN" sz="9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Needed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1" name="Text 5">
            <a:extLst>
              <a:ext uri="{FF2B5EF4-FFF2-40B4-BE49-F238E27FC236}">
                <a16:creationId xmlns:a16="http://schemas.microsoft.com/office/drawing/2014/main" id="{97938578-1414-4F68-8D92-81C076756ED9}"/>
              </a:ext>
            </a:extLst>
          </p:cNvPr>
          <p:cNvSpPr/>
          <p:nvPr/>
        </p:nvSpPr>
        <p:spPr>
          <a:xfrm>
            <a:off x="1703050" y="4170435"/>
            <a:ext cx="5220020" cy="2099719"/>
          </a:xfrm>
          <a:prstGeom prst="roundRect">
            <a:avLst>
              <a:gd name="adj" fmla="val 4743"/>
            </a:avLst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36000" tIns="0" rIns="3600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3" name="Text 5">
            <a:extLst>
              <a:ext uri="{FF2B5EF4-FFF2-40B4-BE49-F238E27FC236}">
                <a16:creationId xmlns:a16="http://schemas.microsoft.com/office/drawing/2014/main" id="{47A6C90B-6E96-2C39-C9FA-41A2822446EB}"/>
              </a:ext>
            </a:extLst>
          </p:cNvPr>
          <p:cNvSpPr/>
          <p:nvPr/>
        </p:nvSpPr>
        <p:spPr>
          <a:xfrm>
            <a:off x="7249950" y="4170435"/>
            <a:ext cx="4120548" cy="2099719"/>
          </a:xfrm>
          <a:prstGeom prst="roundRect">
            <a:avLst>
              <a:gd name="adj" fmla="val 4743"/>
            </a:avLst>
          </a:prstGeom>
          <a:noFill/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 lIns="36000" tIns="0" rIns="36000" bIns="0" rtlCol="0"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8" name="Text 71">
            <a:extLst>
              <a:ext uri="{FF2B5EF4-FFF2-40B4-BE49-F238E27FC236}">
                <a16:creationId xmlns:a16="http://schemas.microsoft.com/office/drawing/2014/main" id="{A17C50ED-7B36-16C5-2237-E4DCF958E5DF}"/>
              </a:ext>
            </a:extLst>
          </p:cNvPr>
          <p:cNvSpPr/>
          <p:nvPr/>
        </p:nvSpPr>
        <p:spPr>
          <a:xfrm>
            <a:off x="1827152" y="4667043"/>
            <a:ext cx="5105999" cy="1447364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Current User Journey – </a:t>
            </a:r>
            <a:r>
              <a:rPr kumimoji="0" lang="en-US" altLang="zh-CN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with pain points and opportunities</a:t>
            </a:r>
          </a:p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Target Agentic User Journey</a:t>
            </a:r>
            <a:r>
              <a:rPr kumimoji="0" lang="en-US" altLang="zh-CN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 – Client/RM/Agentic Product/Human expert/System</a:t>
            </a:r>
          </a:p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One Hero Case – consolidate the current pain points and streamline the orchestration</a:t>
            </a:r>
          </a:p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Human-in-the-Loop and Autonomy Model – Assist/Prepare/Execute within guardrails/Escalate for judgment</a:t>
            </a:r>
          </a:p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Journey-to-Product Requirements – with a scorecard to prioritize the requirements and touch base on the solidification of product requirements</a:t>
            </a:r>
          </a:p>
        </p:txBody>
      </p:sp>
      <p:sp>
        <p:nvSpPr>
          <p:cNvPr id="109" name="Text 71">
            <a:extLst>
              <a:ext uri="{FF2B5EF4-FFF2-40B4-BE49-F238E27FC236}">
                <a16:creationId xmlns:a16="http://schemas.microsoft.com/office/drawing/2014/main" id="{A7298AF5-985D-148B-23D1-891C3FA09757}"/>
              </a:ext>
            </a:extLst>
          </p:cNvPr>
          <p:cNvSpPr/>
          <p:nvPr/>
        </p:nvSpPr>
        <p:spPr>
          <a:xfrm>
            <a:off x="7399964" y="4728227"/>
            <a:ext cx="4128506" cy="1447364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Persona and Jobs to Be Done – </a:t>
            </a:r>
            <a:r>
              <a:rPr kumimoji="0" lang="en-US" altLang="zh-CN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Objectives/KPI/SLA</a:t>
            </a:r>
          </a:p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en-US" altLang="zh-CN" sz="1000" i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Multi-language – Multi-region/multi-language</a:t>
            </a:r>
            <a:endParaRPr kumimoji="0" lang="en-US" altLang="zh-CN" sz="1000" b="0" i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Hero Scenario 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- New relationship</a:t>
            </a: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；Product / service extension；Material change；Refresh / reassessment.</a:t>
            </a:r>
          </a:p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Human-in-the-Loop Boundary – Escalation flow</a:t>
            </a:r>
          </a:p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Existing System Strategy – Keep/Upgrade/Remove</a:t>
            </a:r>
          </a:p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Structured State Model </a:t>
            </a:r>
            <a:r>
              <a:rPr kumimoji="0" lang="en-US" altLang="zh-CN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– Consolidated AS-IS data schema</a:t>
            </a:r>
          </a:p>
          <a:p>
            <a:pPr marL="228600" marR="0" lvl="0" indent="-228600" defTabSz="914400" rtl="0" eaLnBrk="1" fontAlgn="auto" latinLnBrk="0" hangingPunct="1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00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Success Measures – Target/KPIs</a:t>
            </a:r>
          </a:p>
        </p:txBody>
      </p:sp>
      <p:sp>
        <p:nvSpPr>
          <p:cNvPr id="111" name="Left Brace 110">
            <a:extLst>
              <a:ext uri="{FF2B5EF4-FFF2-40B4-BE49-F238E27FC236}">
                <a16:creationId xmlns:a16="http://schemas.microsoft.com/office/drawing/2014/main" id="{80E34A5C-075A-64AB-E8B9-C12D0CB04328}"/>
              </a:ext>
            </a:extLst>
          </p:cNvPr>
          <p:cNvSpPr/>
          <p:nvPr/>
        </p:nvSpPr>
        <p:spPr>
          <a:xfrm>
            <a:off x="1385587" y="4690808"/>
            <a:ext cx="268368" cy="533555"/>
          </a:xfrm>
          <a:prstGeom prst="leftBrace">
            <a:avLst/>
          </a:prstGeom>
          <a:ln w="9525" cap="rnd">
            <a:solidFill>
              <a:schemeClr val="tx1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Left Brace 111">
            <a:extLst>
              <a:ext uri="{FF2B5EF4-FFF2-40B4-BE49-F238E27FC236}">
                <a16:creationId xmlns:a16="http://schemas.microsoft.com/office/drawing/2014/main" id="{D0FAAF7F-C239-3D7E-C66B-887D8D9A96EB}"/>
              </a:ext>
            </a:extLst>
          </p:cNvPr>
          <p:cNvSpPr/>
          <p:nvPr/>
        </p:nvSpPr>
        <p:spPr>
          <a:xfrm>
            <a:off x="1383797" y="5346130"/>
            <a:ext cx="268368" cy="278363"/>
          </a:xfrm>
          <a:prstGeom prst="leftBrace">
            <a:avLst/>
          </a:prstGeom>
          <a:ln w="9525" cap="rnd">
            <a:solidFill>
              <a:schemeClr val="tx1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Left Brace 112">
            <a:extLst>
              <a:ext uri="{FF2B5EF4-FFF2-40B4-BE49-F238E27FC236}">
                <a16:creationId xmlns:a16="http://schemas.microsoft.com/office/drawing/2014/main" id="{175D303D-D073-E5BF-EDEF-0D964309240B}"/>
              </a:ext>
            </a:extLst>
          </p:cNvPr>
          <p:cNvSpPr/>
          <p:nvPr/>
        </p:nvSpPr>
        <p:spPr>
          <a:xfrm>
            <a:off x="1386942" y="5746260"/>
            <a:ext cx="268368" cy="304801"/>
          </a:xfrm>
          <a:prstGeom prst="leftBrace">
            <a:avLst/>
          </a:prstGeom>
          <a:ln w="9525" cap="rnd">
            <a:solidFill>
              <a:schemeClr val="tx1">
                <a:lumMod val="50000"/>
              </a:schemeClr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Text 71">
            <a:extLst>
              <a:ext uri="{FF2B5EF4-FFF2-40B4-BE49-F238E27FC236}">
                <a16:creationId xmlns:a16="http://schemas.microsoft.com/office/drawing/2014/main" id="{BBB15638-0ADB-95FD-CFF9-0FE1F27B96E5}"/>
              </a:ext>
            </a:extLst>
          </p:cNvPr>
          <p:cNvSpPr/>
          <p:nvPr/>
        </p:nvSpPr>
        <p:spPr>
          <a:xfrm>
            <a:off x="77841" y="4648856"/>
            <a:ext cx="1151050" cy="544260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1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Step1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 i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1.5 </a:t>
            </a:r>
            <a:r>
              <a:rPr lang="en-US" altLang="zh-CN" sz="600" i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weeks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00" i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Consulting + UXUI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00" i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 man-days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00" i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(7~16 Sep)</a:t>
            </a:r>
          </a:p>
        </p:txBody>
      </p:sp>
      <p:sp>
        <p:nvSpPr>
          <p:cNvPr id="122" name="Text 71">
            <a:extLst>
              <a:ext uri="{FF2B5EF4-FFF2-40B4-BE49-F238E27FC236}">
                <a16:creationId xmlns:a16="http://schemas.microsoft.com/office/drawing/2014/main" id="{D1E5145B-0D59-B1F6-E083-39866EFC4A82}"/>
              </a:ext>
            </a:extLst>
          </p:cNvPr>
          <p:cNvSpPr/>
          <p:nvPr/>
        </p:nvSpPr>
        <p:spPr>
          <a:xfrm>
            <a:off x="69307" y="5270237"/>
            <a:ext cx="1151050" cy="504300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1" u="none" strike="noStrike" kern="1200" cap="none" spc="0" normalizeH="0" baseline="0" noProof="0" dirty="0">
                <a:ln>
                  <a:noFill/>
                </a:ln>
                <a:solidFill>
                  <a:srgbClr val="0072BC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Step2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i="1" dirty="0">
                <a:solidFill>
                  <a:srgbClr val="0072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 </a:t>
            </a:r>
            <a:r>
              <a:rPr lang="en-US" altLang="zh-CN" sz="700" i="1" dirty="0">
                <a:solidFill>
                  <a:srgbClr val="0072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week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i="1" dirty="0">
                <a:solidFill>
                  <a:srgbClr val="0072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Consulting/5 man-days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i="1" dirty="0">
                <a:solidFill>
                  <a:srgbClr val="0072BC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(17~23 Sep)</a:t>
            </a:r>
          </a:p>
        </p:txBody>
      </p:sp>
      <p:sp>
        <p:nvSpPr>
          <p:cNvPr id="123" name="Text 71">
            <a:extLst>
              <a:ext uri="{FF2B5EF4-FFF2-40B4-BE49-F238E27FC236}">
                <a16:creationId xmlns:a16="http://schemas.microsoft.com/office/drawing/2014/main" id="{6E727599-2181-83FE-61BE-01553F8D4F95}"/>
              </a:ext>
            </a:extLst>
          </p:cNvPr>
          <p:cNvSpPr/>
          <p:nvPr/>
        </p:nvSpPr>
        <p:spPr>
          <a:xfrm>
            <a:off x="-4067" y="5798911"/>
            <a:ext cx="1280633" cy="504300"/>
          </a:xfrm>
          <a:prstGeom prst="roundRect">
            <a:avLst>
              <a:gd name="adj" fmla="val 7413"/>
            </a:avLst>
          </a:prstGeom>
          <a:solidFill>
            <a:srgbClr val="DDECEF">
              <a:alpha val="10000"/>
            </a:srgbClr>
          </a:solidFill>
          <a:ln w="8255">
            <a:noFill/>
            <a:prstDash val="solid"/>
          </a:ln>
        </p:spPr>
        <p:txBody>
          <a:bodyPr wrap="square" lIns="381" tIns="381" rIns="381" bIns="381" rtlCol="0" anchor="ctr">
            <a:sp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50" b="1" i="1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</a:schemeClr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Step3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i="1" dirty="0">
                <a:solidFill>
                  <a:schemeClr val="tx1">
                    <a:lumMod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1.5~2  </a:t>
            </a:r>
            <a:r>
              <a:rPr lang="en-US" altLang="zh-CN" sz="700" i="1" dirty="0">
                <a:solidFill>
                  <a:schemeClr val="tx1">
                    <a:lumMod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weeks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i="1" dirty="0">
                <a:solidFill>
                  <a:schemeClr val="tx1">
                    <a:lumMod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Consulting/7~10 man-days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700" i="1" dirty="0">
                <a:solidFill>
                  <a:schemeClr val="tx1">
                    <a:lumMod val="50000"/>
                  </a:schemeClr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(24 Sep~8 Oct)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B45D33A-86F5-E1F4-98A1-53D869C6B2EC}"/>
              </a:ext>
            </a:extLst>
          </p:cNvPr>
          <p:cNvSpPr txBox="1"/>
          <p:nvPr/>
        </p:nvSpPr>
        <p:spPr>
          <a:xfrm>
            <a:off x="1894217" y="6174473"/>
            <a:ext cx="497186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i="1" dirty="0">
                <a:solidFill>
                  <a:schemeClr val="bg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30 man-days / Ad-hoc catch up / Internal dry run around 9~10 Oct</a:t>
            </a:r>
          </a:p>
        </p:txBody>
      </p:sp>
      <p:sp>
        <p:nvSpPr>
          <p:cNvPr id="126" name="Rectangle: Diagonal Corners Rounded 125">
            <a:extLst>
              <a:ext uri="{FF2B5EF4-FFF2-40B4-BE49-F238E27FC236}">
                <a16:creationId xmlns:a16="http://schemas.microsoft.com/office/drawing/2014/main" id="{398479FC-9A37-80C1-0FEB-60048FF207E1}"/>
              </a:ext>
            </a:extLst>
          </p:cNvPr>
          <p:cNvSpPr/>
          <p:nvPr/>
        </p:nvSpPr>
        <p:spPr>
          <a:xfrm>
            <a:off x="5815122" y="1287873"/>
            <a:ext cx="679946" cy="186592"/>
          </a:xfrm>
          <a:prstGeom prst="round2Diag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Planned</a:t>
            </a:r>
            <a:endParaRPr lang="zh-CN" altLang="en-US" sz="1000" dirty="0" err="1"/>
          </a:p>
        </p:txBody>
      </p:sp>
      <p:sp>
        <p:nvSpPr>
          <p:cNvPr id="127" name="Rectangle: Diagonal Corners Rounded 126">
            <a:extLst>
              <a:ext uri="{FF2B5EF4-FFF2-40B4-BE49-F238E27FC236}">
                <a16:creationId xmlns:a16="http://schemas.microsoft.com/office/drawing/2014/main" id="{310CC4AA-D0CA-C426-C9CF-83C674207A59}"/>
              </a:ext>
            </a:extLst>
          </p:cNvPr>
          <p:cNvSpPr/>
          <p:nvPr/>
        </p:nvSpPr>
        <p:spPr>
          <a:xfrm>
            <a:off x="9844118" y="1278034"/>
            <a:ext cx="679946" cy="186592"/>
          </a:xfrm>
          <a:prstGeom prst="round2DiagRect">
            <a:avLst/>
          </a:prstGeom>
          <a:solidFill>
            <a:schemeClr val="accent5">
              <a:lumMod val="40000"/>
              <a:lumOff val="60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Planned</a:t>
            </a:r>
            <a:endParaRPr lang="zh-CN" altLang="en-US" sz="1000" dirty="0" err="1"/>
          </a:p>
        </p:txBody>
      </p:sp>
    </p:spTree>
    <p:extLst>
      <p:ext uri="{BB962C8B-B14F-4D97-AF65-F5344CB8AC3E}">
        <p14:creationId xmlns:p14="http://schemas.microsoft.com/office/powerpoint/2010/main" val="17247220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E07FA-5654-CB4B-9D8B-3C5B70094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0ABB5-186B-CE54-607E-A942EBDFB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400800"/>
            <a:ext cx="4114800" cy="3048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D745C-3744-BB41-D442-61BAE8EB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D39823-8059-4D49-BD26-6D32C31B8621}" type="slidenum">
              <a:rPr kumimoji="0" lang="en-AU" sz="800" b="0" i="0" u="none" strike="noStrike" kern="1200" cap="none" spc="0" normalizeH="0" baseline="0" noProof="0" smtClean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800" b="0" i="0" u="none" strike="noStrike" kern="1200" cap="none" spc="0" normalizeH="0" baseline="0" noProof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50C93ED-7187-B0B9-BFB7-7FA47E10F1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650" y="731837"/>
            <a:ext cx="1169670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46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E07FA-5654-CB4B-9D8B-3C5B70094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D0ABB5-186B-CE54-607E-A942EBDFBE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81000" y="6400800"/>
            <a:ext cx="4114800" cy="304800"/>
          </a:xfr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800" b="0" i="0" u="none" strike="noStrike" kern="1200" cap="none" spc="0" normalizeH="0" baseline="0" noProof="0">
                <a:ln>
                  <a:noFill/>
                </a:ln>
                <a:solidFill>
                  <a:srgbClr val="2E404D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© 2026 NTT DATA, Inc.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D745C-3744-BB41-D442-61BAE8EB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2600" y="6400800"/>
            <a:ext cx="1066800" cy="304800"/>
          </a:xfrm>
        </p:spPr>
        <p:txBody>
          <a:bodyPr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0D39823-8059-4D49-BD26-6D32C31B8621}" type="slidenum">
              <a:rPr kumimoji="0" lang="en-AU" sz="800" b="0" i="0" u="none" strike="noStrike" kern="1200" cap="none" spc="0" normalizeH="0" baseline="0" noProof="0" smtClean="0">
                <a:ln>
                  <a:noFill/>
                </a:ln>
                <a:solidFill>
                  <a:srgbClr val="070F26"/>
                </a:solidFill>
                <a:effectLst/>
                <a:uLnTx/>
                <a:uFillTx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800" b="0" i="0" u="none" strike="noStrike" kern="1200" cap="none" spc="0" normalizeH="0" baseline="0" noProof="0">
              <a:ln>
                <a:noFill/>
              </a:ln>
              <a:solidFill>
                <a:srgbClr val="070F26"/>
              </a:solidFill>
              <a:effectLst/>
              <a:uLnTx/>
              <a:uFillTx/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C7A1A88-F3FC-9330-B03A-3CE08EF0CE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512" y="290512"/>
            <a:ext cx="11610975" cy="598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669263"/>
      </p:ext>
    </p:extLst>
  </p:cSld>
  <p:clrMapOvr>
    <a:masterClrMapping/>
  </p:clrMapOvr>
</p:sld>
</file>

<file path=ppt/theme/theme1.xml><?xml version="1.0" encoding="utf-8"?>
<a:theme xmlns:a="http://schemas.openxmlformats.org/drawingml/2006/main" name="1_Light Body Slides">
  <a:themeElements>
    <a:clrScheme name="NTT DATA 2024">
      <a:dk1>
        <a:srgbClr val="FFFFFF"/>
      </a:dk1>
      <a:lt1>
        <a:srgbClr val="070F26"/>
      </a:lt1>
      <a:dk2>
        <a:srgbClr val="2E404D"/>
      </a:dk2>
      <a:lt2>
        <a:srgbClr val="0072BC"/>
      </a:lt2>
      <a:accent1>
        <a:srgbClr val="19A3FC"/>
      </a:accent1>
      <a:accent2>
        <a:srgbClr val="00DFED"/>
      </a:accent2>
      <a:accent3>
        <a:srgbClr val="00CB5D"/>
      </a:accent3>
      <a:accent4>
        <a:srgbClr val="FFC400"/>
      </a:accent4>
      <a:accent5>
        <a:srgbClr val="FF7A00"/>
      </a:accent5>
      <a:accent6>
        <a:srgbClr val="949494"/>
      </a:accent6>
      <a:hlink>
        <a:srgbClr val="0072BC"/>
      </a:hlink>
      <a:folHlink>
        <a:srgbClr val="00DFED"/>
      </a:folHlink>
    </a:clrScheme>
    <a:fontScheme name="NTT DATA Fonts 1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 w="9525">
          <a:solidFill>
            <a:schemeClr val="tx1">
              <a:lumMod val="50000"/>
            </a:schemeClr>
          </a:solidFill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 cap="rnd">
          <a:solidFill>
            <a:schemeClr val="tx1">
              <a:lumMod val="50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dirty="0" err="1" smtClean="0">
            <a:solidFill>
              <a:schemeClr val="tx2"/>
            </a:solidFill>
          </a:defRPr>
        </a:defPPr>
      </a:lstStyle>
    </a:txDef>
  </a:objectDefaults>
  <a:extraClrSchemeLst/>
  <a:custClrLst>
    <a:custClr name="A-Smart Navy">
      <a:srgbClr val="070F26"/>
    </a:custClr>
    <a:custClr name="B-White">
      <a:srgbClr val="FFFFFF"/>
    </a:custClr>
    <a:custClr name="C-Future Blue 150">
      <a:srgbClr val="005B96"/>
    </a:custClr>
    <a:custClr name="D-Future Blue">
      <a:srgbClr val="0072BC"/>
    </a:custClr>
    <a:custClr name="E-Future Blue 50">
      <a:srgbClr val="19A3FC"/>
    </a:custClr>
    <a:custClr name="F-Turquoise 100">
      <a:srgbClr val="009AA4"/>
    </a:custClr>
    <a:custClr name="G-Turquoise">
      <a:srgbClr val="00DFED"/>
    </a:custClr>
    <a:custClr name="H-Turquoise 50">
      <a:srgbClr val="7BF7FF"/>
    </a:custClr>
    <a:custClr name="I-Green 150">
      <a:srgbClr val="068941"/>
    </a:custClr>
    <a:custClr name="J-Green">
      <a:srgbClr val="00CB5D"/>
    </a:custClr>
    <a:custClr name="K-Green 50">
      <a:srgbClr val="38F990"/>
    </a:custClr>
    <a:custClr name="L-Yellow">
      <a:srgbClr val="FFC400"/>
    </a:custClr>
    <a:custClr name="M-Yellow 50">
      <a:srgbClr val="FFEDB2"/>
    </a:custClr>
    <a:custClr name="N-Yellow 100">
      <a:srgbClr val="FFDB66"/>
    </a:custClr>
    <a:custClr name="O-Orange 150">
      <a:srgbClr val="B22000"/>
    </a:custClr>
    <a:custClr name="P-Orange 100">
      <a:srgbClr val="E42600"/>
    </a:custClr>
    <a:custClr name="Q-Orange">
      <a:srgbClr val="FF7A00"/>
    </a:custClr>
    <a:custClr name="R-Grey 100">
      <a:srgbClr val="949494"/>
    </a:custClr>
    <a:custClr name="S-Grey 50">
      <a:srgbClr val="E8E8E8"/>
    </a:custClr>
    <a:custClr name="T-Black">
      <a:srgbClr val="000000"/>
    </a:custClr>
    <a:custClr name="U-Text Grey">
      <a:srgbClr val="2E404D"/>
    </a:custClr>
  </a:custClrLst>
  <a:extLst>
    <a:ext uri="{05A4C25C-085E-4340-85A3-A5531E510DB2}">
      <thm15:themeFamily xmlns:thm15="http://schemas.microsoft.com/office/thememl/2012/main" name="Presentation1" id="{09E09F61-42FD-4E5A-AEF2-0EB422DF44CE}" vid="{C146F23E-B709-4B2D-9758-8EB4940147E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1580</Words>
  <Application>Microsoft Office PowerPoint</Application>
  <PresentationFormat>Widescreen</PresentationFormat>
  <Paragraphs>407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Georgia</vt:lpstr>
      <vt:lpstr>Noto Sans</vt:lpstr>
      <vt:lpstr>1_Light Body Slides</vt:lpstr>
      <vt:lpstr>Current clear-to-trade process</vt:lpstr>
      <vt:lpstr>Target clear-to-trade process</vt:lpstr>
      <vt:lpstr>Build from Process Map → User Journey → Product Requirement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Raunaq Kumar</dc:creator>
  <cp:lastModifiedBy>Christina.Liu</cp:lastModifiedBy>
  <cp:revision>2</cp:revision>
  <dcterms:created xsi:type="dcterms:W3CDTF">2026-09-04T01:26:16Z</dcterms:created>
  <dcterms:modified xsi:type="dcterms:W3CDTF">2026-09-04T03:46:54Z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637e5cc-ed1f-4ad6-a881-35c0f1c6f3d8_Enabled">
    <vt:lpwstr>true</vt:lpwstr>
  </property>
  <property fmtid="{D5CDD505-2E9C-101B-9397-08002B2CF9AE}" pid="3" name="MSIP_Label_4637e5cc-ed1f-4ad6-a881-35c0f1c6f3d8_SetDate">
    <vt:lpwstr>2026-09-04T01:33:57Z</vt:lpwstr>
  </property>
  <property fmtid="{D5CDD505-2E9C-101B-9397-08002B2CF9AE}" pid="4" name="MSIP_Label_4637e5cc-ed1f-4ad6-a881-35c0f1c6f3d8_Method">
    <vt:lpwstr>Standard</vt:lpwstr>
  </property>
  <property fmtid="{D5CDD505-2E9C-101B-9397-08002B2CF9AE}" pid="5" name="MSIP_Label_4637e5cc-ed1f-4ad6-a881-35c0f1c6f3d8_Name">
    <vt:lpwstr>General</vt:lpwstr>
  </property>
  <property fmtid="{D5CDD505-2E9C-101B-9397-08002B2CF9AE}" pid="6" name="MSIP_Label_4637e5cc-ed1f-4ad6-a881-35c0f1c6f3d8_SiteId">
    <vt:lpwstr>e3cf3c98-a978-465f-8254-9d541eeea73c</vt:lpwstr>
  </property>
  <property fmtid="{D5CDD505-2E9C-101B-9397-08002B2CF9AE}" pid="7" name="MSIP_Label_4637e5cc-ed1f-4ad6-a881-35c0f1c6f3d8_ActionId">
    <vt:lpwstr>822d640a-ef8d-497c-b2bc-187830c47857</vt:lpwstr>
  </property>
  <property fmtid="{D5CDD505-2E9C-101B-9397-08002B2CF9AE}" pid="8" name="MSIP_Label_4637e5cc-ed1f-4ad6-a881-35c0f1c6f3d8_ContentBits">
    <vt:lpwstr>2</vt:lpwstr>
  </property>
  <property fmtid="{D5CDD505-2E9C-101B-9397-08002B2CF9AE}" pid="9" name="MSIP_Label_4637e5cc-ed1f-4ad6-a881-35c0f1c6f3d8_Tag">
    <vt:lpwstr>10, 3, 0, 1</vt:lpwstr>
  </property>
  <property fmtid="{D5CDD505-2E9C-101B-9397-08002B2CF9AE}" pid="10" name="ClassificationContentMarkingFooterLocations">
    <vt:lpwstr>1_Light Body Slides:8</vt:lpwstr>
  </property>
  <property fmtid="{D5CDD505-2E9C-101B-9397-08002B2CF9AE}" pid="11" name="ClassificationContentMarkingFooterText">
    <vt:lpwstr>Sensitivity Label: General</vt:lpwstr>
  </property>
</Properties>
</file>